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8f411e64-ea2a-c7d9-f7ca-4d606871a91e}">
          <p14:sldIdLst>
            <p14:sldId id="256"/>
          </p14:sldIdLst>
        </p14:section>
        <p14:section name="Entregable" id="{a68c23ab-425a-212e-340d-4c324e2f4bb9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B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negocios-digitales-egade-mvp.vercel.app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negocios-digitales-egade-mvp.vercel.app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curso"/>
          <p:cNvSpPr txBox="1"/>
          <p:nvPr/>
        </p:nvSpPr>
        <p:spPr>
          <a:xfrm>
            <a:off x="548640" y="914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NEGOCIOS DIGITALES · EGADE BUSINESS SCHOOL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 Bocado</a:t>
            </a:r>
            <a:endParaRPr lang="en-US" sz="4800" dirty="0"/>
          </a:p>
        </p:txBody>
      </p:sp>
      <p:sp>
        <p:nvSpPr>
          <p:cNvPr id="4" name="Lema"/>
          <p:cNvSpPr txBox="1"/>
          <p:nvPr/>
        </p:nvSpPr>
        <p:spPr>
          <a:xfrm>
            <a:off x="548640" y="2286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2"/>
                </a:solidFill>
              </a:rPr>
              <a:t>Lo que sobra hoy, se vende hoy</a:t>
            </a:r>
            <a:endParaRPr lang="en-US" sz="2400" dirty="0"/>
          </a:p>
        </p:txBody>
      </p:sp>
      <p:sp>
        <p:nvSpPr>
          <p:cNvPr id="5" name="Entregable"/>
          <p:cNvSpPr txBox="1"/>
          <p:nvPr/>
        </p:nvSpPr>
        <p:spPr>
          <a:xfrm>
            <a:off x="548640" y="3017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CBB7"/>
                </a:solidFill>
              </a:rPr>
              <a:t>Entregable 2 · Prototipo interactivo</a:t>
            </a:r>
            <a:endParaRPr lang="en-US" sz="1800" dirty="0"/>
          </a:p>
        </p:txBody>
      </p:sp>
      <p:sp>
        <p:nvSpPr>
          <p:cNvPr id="6" name="Equipo"/>
          <p:cNvSpPr txBox="1"/>
          <p:nvPr/>
        </p:nvSpPr>
        <p:spPr>
          <a:xfrm>
            <a:off x="548640" y="4206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BB7"/>
                </a:solidFill>
              </a:rPr>
              <a:t>Equipo Buen Bocado · Octubre 2026</a:t>
            </a:r>
            <a:endParaRPr lang="en-US" sz="1200" dirty="0"/>
          </a:p>
        </p:txBody>
      </p:sp>
      <p:sp>
        <p:nvSpPr>
          <p:cNvPr id="7" name="Tarjeta QR"/>
          <p:cNvSpPr/>
          <p:nvPr/>
        </p:nvSpPr>
        <p:spPr>
          <a:xfrm>
            <a:off x="6675120" y="914400"/>
            <a:ext cx="2011680" cy="3291840"/>
          </a:xfrm>
          <a:prstGeom prst="roundRect">
            <a:avLst>
              <a:gd name="adj" fmla="val 6818"/>
            </a:avLst>
          </a:prstGeom>
          <a:solidFill>
            <a:schemeClr val="tx2"/>
          </a:solidFill>
          <a:ln/>
        </p:spPr>
      </p:sp>
      <p:pic>
        <p:nvPicPr>
          <p:cNvPr id="8" name="QR prototipo" descr="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143000"/>
            <a:ext cx="1554480" cy="1554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7665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Prueba el prototipo</a:t>
            </a:r>
            <a:endParaRPr lang="en-US" sz="1300" dirty="0"/>
          </a:p>
        </p:txBody>
      </p:sp>
      <p:sp>
        <p:nvSpPr>
          <p:cNvPr id="10" name="Text 7">
            <a:hlinkClick r:id="rId2" tooltip=""/>
          </p:cNvPr>
          <p:cNvSpPr txBox="1"/>
          <p:nvPr/>
        </p:nvSpPr>
        <p:spPr>
          <a:xfrm>
            <a:off x="676656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negocios-digitales-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egade-mvp.vercel.app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foto al cierre: la IA hace el trabajo, el dueño decide</a:t>
            </a:r>
            <a:endParaRPr lang="en-US" sz="2400" dirty="0"/>
          </a:p>
        </p:txBody>
      </p:sp>
      <p:sp>
        <p:nvSpPr>
          <p:cNvPr id="3" name="Paso 1"/>
          <p:cNvSpPr/>
          <p:nvPr/>
        </p:nvSpPr>
        <p:spPr>
          <a:xfrm>
            <a:off x="365760" y="777240"/>
            <a:ext cx="1316736" cy="713232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201168" cy="201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3232" y="850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Dueño · aporta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0642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Toma 1 foto de la vitrina</a:t>
            </a:r>
            <a:endParaRPr lang="en-US" sz="1000" dirty="0"/>
          </a:p>
        </p:txBody>
      </p:sp>
      <p:sp>
        <p:nvSpPr>
          <p:cNvPr id="7" name="Paso 2"/>
          <p:cNvSpPr/>
          <p:nvPr/>
        </p:nvSpPr>
        <p:spPr>
          <a:xfrm>
            <a:off x="1784909" y="777240"/>
            <a:ext cx="1316736" cy="713232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349" y="8686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32381" y="850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IA · recibe la foto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876349" y="110642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Reconoce productos y cantidades</a:t>
            </a:r>
            <a:endParaRPr lang="en-US" sz="1000" dirty="0"/>
          </a:p>
        </p:txBody>
      </p:sp>
      <p:sp>
        <p:nvSpPr>
          <p:cNvPr id="11" name="Paso 3"/>
          <p:cNvSpPr/>
          <p:nvPr/>
        </p:nvSpPr>
        <p:spPr>
          <a:xfrm>
            <a:off x="3204058" y="777240"/>
            <a:ext cx="1316736" cy="713232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498" y="86868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51530" y="850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IA · produce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3295498" y="110642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Redacta el paquete y precio con piso</a:t>
            </a:r>
            <a:endParaRPr lang="en-US" sz="1000" dirty="0"/>
          </a:p>
        </p:txBody>
      </p:sp>
      <p:sp>
        <p:nvSpPr>
          <p:cNvPr id="15" name="Paso 4"/>
          <p:cNvSpPr/>
          <p:nvPr/>
        </p:nvSpPr>
        <p:spPr>
          <a:xfrm>
            <a:off x="4623206" y="777240"/>
            <a:ext cx="1316736" cy="713232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646" y="86868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970678" y="850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Dueño · decide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4714646" y="110642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s-MX" sz="1000" dirty="0">
                <a:solidFill>
                  <a:schemeClr val="bg1"/>
                </a:solidFill>
              </a:rPr>
              <a:t xml:space="preserve">Corrige conteo o precio y aprueba</a:t>
            </a:r>
            <a:endParaRPr lang="es-MX" sz="1000" dirty="0"/>
          </a:p>
        </p:txBody>
      </p:sp>
      <p:sp>
        <p:nvSpPr>
          <p:cNvPr id="19" name="Paso 5"/>
          <p:cNvSpPr/>
          <p:nvPr/>
        </p:nvSpPr>
        <p:spPr>
          <a:xfrm>
            <a:off x="6042355" y="777240"/>
            <a:ext cx="1316736" cy="713232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3795" y="86868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89827" y="850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IA · produce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6133795" y="110642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Avisa solo a quien le sirve</a:t>
            </a:r>
            <a:endParaRPr lang="en-US" sz="1000" dirty="0"/>
          </a:p>
        </p:txBody>
      </p:sp>
      <p:sp>
        <p:nvSpPr>
          <p:cNvPr id="23" name="Paso 6"/>
          <p:cNvSpPr/>
          <p:nvPr/>
        </p:nvSpPr>
        <p:spPr>
          <a:xfrm>
            <a:off x="7461504" y="777240"/>
            <a:ext cx="1316736" cy="713232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868680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808976" y="850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Cliente · decide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7552944" y="110642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Ve el paquete real, paga y recoge</a:t>
            </a:r>
            <a:endParaRPr lang="en-US" sz="1000" dirty="0"/>
          </a:p>
        </p:txBody>
      </p:sp>
      <p:sp>
        <p:nvSpPr>
          <p:cNvPr id="27" name="Delega y decide"/>
          <p:cNvSpPr txBox="1"/>
          <p:nvPr/>
        </p:nvSpPr>
        <p:spPr>
          <a:xfrm>
            <a:off x="365760" y="153619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E40"/>
                </a:solidFill>
              </a:rPr>
              <a:t>Delega a la IA: 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contar, describir, poner precio y avisar. </a:t>
            </a:r>
            <a:pPr indent="0" marL="0">
              <a:buNone/>
            </a:pPr>
            <a:r>
              <a:rPr lang="en-US" sz="1000" b="1" dirty="0">
                <a:solidFill>
                  <a:srgbClr val="F28C28"/>
                </a:solidFill>
              </a:rPr>
              <a:t>Decide la persona: 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qué se publica, a qué precio final y cuánto producir mañana (la IA solo lo predice).</a:t>
            </a:r>
            <a:endParaRPr lang="en-US" sz="1000" dirty="0"/>
          </a:p>
        </p:txBody>
      </p:sp>
      <p:sp>
        <p:nvSpPr>
          <p:cNvPr id="28" name="Tarjeta problema y valor"/>
          <p:cNvSpPr/>
          <p:nvPr/>
        </p:nvSpPr>
        <p:spPr>
          <a:xfrm>
            <a:off x="365760" y="1856232"/>
            <a:ext cx="3611880" cy="2852928"/>
          </a:xfrm>
          <a:prstGeom prst="roundRect">
            <a:avLst>
              <a:gd name="adj" fmla="val 3205"/>
            </a:avLst>
          </a:prstGeom>
          <a:solidFill>
            <a:schemeClr val="bg2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502920" y="19476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1  PROBLEMA Y VALOR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502920" y="2221992"/>
            <a:ext cx="3383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s-MX" sz="1000" b="1" dirty="0">
                <a:solidFill>
                  <a:srgbClr val="2E5E40"/>
                </a:solidFill>
              </a:rPr>
              <a:t xml:space="preserve">Problema: </a:t>
            </a:r>
            <a:r>
              <a:rPr lang="es-MX" sz="1000" dirty="0">
                <a:solidFill>
                  <a:schemeClr val="tx1"/>
                </a:solidFill>
              </a:rPr>
              <a:t xml:space="preserve">al cierre, el restaurante (panadería, cafetería, otros) en MTY tiene producto que mañana ya no puede vender. Ya pagó insumos, mano de obra y gas: si lo tira, pierde ese costo.</a:t>
            </a:r>
            <a:endParaRPr lang="es-MX" sz="1000" dirty="0"/>
          </a:p>
          <a:p>
            <a:pPr indent="0" marL="0">
              <a:spcAft>
                <a:spcPts val="400"/>
              </a:spcAft>
              <a:buNone/>
            </a:pPr>
            <a:r>
              <a:rPr lang="es-MX" sz="1000" b="1" dirty="0">
                <a:solidFill>
                  <a:srgbClr val="2E5E40"/>
                </a:solidFill>
              </a:rPr>
              <a:t xml:space="preserve">Valor: </a:t>
            </a:r>
            <a:r>
              <a:rPr lang="es-MX" sz="1000" dirty="0">
                <a:solidFill>
                  <a:schemeClr val="tx1"/>
                </a:solidFill>
              </a:rPr>
              <a:t xml:space="preserve">lo que hoy vale $0 se convierte en ingreso esa misma noche. El dueño lo publica con 1 foto y 1 clic a 50–67% de descuento; el cliente ahorra y ve qué compra.</a:t>
            </a:r>
            <a:endParaRPr lang="es-MX" sz="1000" dirty="0"/>
          </a:p>
          <a:p>
            <a:pPr indent="0" marL="0">
              <a:spcAft>
                <a:spcPts val="400"/>
              </a:spcAft>
              <a:buNone/>
            </a:pPr>
            <a:r>
              <a:rPr lang="es-MX" sz="1000" b="1" dirty="0">
                <a:solidFill>
                  <a:srgbClr val="2E5E40"/>
                </a:solidFill>
              </a:rPr>
              <a:t xml:space="preserve">Línea base: </a:t>
            </a:r>
            <a:r>
              <a:rPr lang="es-MX" sz="1000" dirty="0">
                <a:solidFill>
                  <a:schemeClr val="tx1"/>
                </a:solidFill>
              </a:rPr>
              <a:t xml:space="preserve">se define con el paso 1 del experimento; estimamos que hoy no se vende el 7–10% de la producción diaria.</a:t>
            </a:r>
            <a:endParaRPr lang="es-MX" sz="1000" dirty="0"/>
          </a:p>
        </p:txBody>
      </p:sp>
      <p:sp>
        <p:nvSpPr>
          <p:cNvPr id="31" name="Shape 23"/>
          <p:cNvSpPr/>
          <p:nvPr/>
        </p:nvSpPr>
        <p:spPr>
          <a:xfrm>
            <a:off x="502920" y="3758184"/>
            <a:ext cx="1627632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</p:sp>
      <p:sp>
        <p:nvSpPr>
          <p:cNvPr id="32" name="Shape 24"/>
          <p:cNvSpPr/>
          <p:nvPr/>
        </p:nvSpPr>
        <p:spPr>
          <a:xfrm>
            <a:off x="2212848" y="3758184"/>
            <a:ext cx="1627632" cy="859536"/>
          </a:xfrm>
          <a:prstGeom prst="roundRect">
            <a:avLst>
              <a:gd name="adj" fmla="val 6383"/>
            </a:avLst>
          </a:prstGeom>
          <a:solidFill>
            <a:schemeClr val="tx2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576072" y="3813048"/>
            <a:ext cx="14813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s-MX" sz="950" b="1" dirty="0">
                <a:solidFill>
                  <a:srgbClr val="D9534F"/>
                </a:solidFill>
              </a:rPr>
              <a:t xml:space="preserve">Hoy</a:t>
            </a:r>
            <a:endParaRPr lang="es-MX" sz="950" dirty="0"/>
          </a:p>
          <a:p>
            <a:pPr indent="0" marL="0">
              <a:spcAft>
                <a:spcPts val="0"/>
              </a:spcAft>
              <a:buNone/>
            </a:pPr>
            <a:r>
              <a:rPr lang="es-MX" sz="950" dirty="0">
                <a:solidFill>
                  <a:schemeClr val="tx1"/>
                </a:solidFill>
              </a:rPr>
              <a:t xml:space="preserve">Lo tira y pierde el costo. En Cheaf arma la bolsa a mano; el cliente compra a ciegas.</a:t>
            </a:r>
            <a:endParaRPr lang="es-MX" sz="950" dirty="0"/>
          </a:p>
        </p:txBody>
      </p:sp>
      <p:sp>
        <p:nvSpPr>
          <p:cNvPr id="34" name="Text 26"/>
          <p:cNvSpPr txBox="1"/>
          <p:nvPr/>
        </p:nvSpPr>
        <p:spPr>
          <a:xfrm>
            <a:off x="2286000" y="3813048"/>
            <a:ext cx="14813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s-MX" sz="950" b="1" dirty="0">
                <a:solidFill>
                  <a:srgbClr val="F2C14E"/>
                </a:solidFill>
              </a:rPr>
              <a:t xml:space="preserve">Con Buen Bocado</a:t>
            </a:r>
            <a:endParaRPr lang="es-MX" sz="950" dirty="0"/>
          </a:p>
          <a:p>
            <a:pPr indent="0" marL="0">
              <a:spcAft>
                <a:spcPts val="0"/>
              </a:spcAft>
              <a:buNone/>
            </a:pPr>
            <a:r>
              <a:rPr lang="es-MX" sz="950" dirty="0">
                <a:solidFill>
                  <a:schemeClr val="bg1"/>
                </a:solidFill>
              </a:rPr>
              <a:t xml:space="preserve">Lo vende y recupera parte del costo. 1 foto y aprobar; el cliente ve qué compra.</a:t>
            </a:r>
            <a:endParaRPr lang="es-MX" sz="950" dirty="0"/>
          </a:p>
        </p:txBody>
      </p:sp>
      <p:sp>
        <p:nvSpPr>
          <p:cNvPr id="35" name="Tarjeta experimento"/>
          <p:cNvSpPr/>
          <p:nvPr/>
        </p:nvSpPr>
        <p:spPr>
          <a:xfrm>
            <a:off x="4114800" y="1856232"/>
            <a:ext cx="3246120" cy="2852928"/>
          </a:xfrm>
          <a:prstGeom prst="roundRect">
            <a:avLst>
              <a:gd name="adj" fmla="val 3205"/>
            </a:avLst>
          </a:prstGeom>
          <a:solidFill>
            <a:schemeClr val="bg2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251960" y="194767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2  EXPERIMENTO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4251960" y="2221992"/>
            <a:ext cx="29718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s-MX" sz="950" b="1" dirty="0">
                <a:solidFill>
                  <a:srgbClr val="2E5E40"/>
                </a:solidFill>
              </a:rPr>
              <a:t xml:space="preserve">Paso 1 · 1 semana, sin programar</a:t>
            </a:r>
            <a:endParaRPr lang="es-MX" sz="950" dirty="0"/>
          </a:p>
          <a:p>
            <a:pPr indent="0" marL="0">
              <a:spcAft>
                <a:spcPts val="300"/>
              </a:spcAft>
              <a:buNone/>
            </a:pPr>
            <a:r>
              <a:rPr lang="es-MX" sz="950" dirty="0">
                <a:solidFill>
                  <a:schemeClr val="tx1"/>
                </a:solidFill>
              </a:rPr>
              <a:t xml:space="preserve">8–10 comercios nos envían por WhatsApp foto al cierre y destino del sobrante → línea base real.</a:t>
            </a:r>
            <a:endParaRPr lang="es-MX" sz="950" dirty="0"/>
          </a:p>
          <a:p>
            <a:pPr indent="0" marL="0">
              <a:spcAft>
                <a:spcPts val="200"/>
              </a:spcAft>
              <a:buNone/>
            </a:pPr>
            <a:r>
              <a:rPr lang="es-MX" sz="950" b="1" dirty="0">
                <a:solidFill>
                  <a:srgbClr val="2E5E40"/>
                </a:solidFill>
              </a:rPr>
              <a:t xml:space="preserve">Paso 2 · piloto de 3–4 semanas en el MVP</a:t>
            </a:r>
            <a:endParaRPr lang="es-MX" sz="950" dirty="0"/>
          </a:p>
          <a:p>
            <a:pPr indent="0" marL="0">
              <a:spcAft>
                <a:spcPts val="300"/>
              </a:spcAft>
              <a:buNone/>
            </a:pPr>
            <a:r>
              <a:rPr lang="es-MX" sz="950" dirty="0">
                <a:solidFill>
                  <a:schemeClr val="tx1"/>
                </a:solidFill>
              </a:rPr>
              <a:t xml:space="preserve">Métrica: excedente rescatado (kg vendidos ÷ kg aptos).</a:t>
            </a:r>
            <a:endParaRPr lang="es-MX" sz="950" dirty="0"/>
          </a:p>
          <a:p>
            <a:pPr indent="0" marL="0">
              <a:spcAft>
                <a:spcPts val="200"/>
              </a:spcAft>
              <a:buNone/>
            </a:pPr>
            <a:r>
              <a:rPr lang="es-MX" sz="950" b="1" dirty="0">
                <a:solidFill>
                  <a:srgbClr val="4E9A5B"/>
                </a:solidFill>
              </a:rPr>
              <a:t xml:space="preserve">Seguimos si se cumplen las cuatro:</a:t>
            </a:r>
            <a:endParaRPr lang="es-MX" sz="950" dirty="0"/>
          </a:p>
          <a:p>
            <a:pPr marL="114300" indent="-114300">
              <a:spcAft>
                <a:spcPts val="100"/>
              </a:spcAft>
              <a:buFont typeface="Arial"/>
              <a:buChar char="•"/>
            </a:pPr>
            <a:r>
              <a:rPr lang="es-MX" sz="950" b="1" dirty="0">
                <a:solidFill>
                  <a:schemeClr val="tx1"/>
                </a:solidFill>
              </a:rPr>
              <a:t xml:space="preserve">Uso: </a:t>
            </a:r>
            <a:r>
              <a:rPr lang="es-MX" sz="950" dirty="0">
                <a:solidFill>
                  <a:schemeClr val="tx1"/>
                </a:solidFill>
              </a:rPr>
              <a:t xml:space="preserve">≥ 50% de comercios sube foto ≥ 50% de los días.</a:t>
            </a:r>
            <a:endParaRPr lang="es-MX" sz="950" dirty="0"/>
          </a:p>
          <a:p>
            <a:pPr marL="114300" indent="-114300">
              <a:spcAft>
                <a:spcPts val="100"/>
              </a:spcAft>
              <a:buFont typeface="Arial"/>
              <a:buChar char="•"/>
            </a:pPr>
            <a:r>
              <a:rPr lang="es-MX" sz="950" b="1" dirty="0">
                <a:solidFill>
                  <a:schemeClr val="tx1"/>
                </a:solidFill>
              </a:rPr>
              <a:t xml:space="preserve">Valor: </a:t>
            </a:r>
            <a:r>
              <a:rPr lang="es-MX" sz="950" dirty="0">
                <a:solidFill>
                  <a:schemeClr val="tx1"/>
                </a:solidFill>
              </a:rPr>
              <a:t xml:space="preserve">el excedente rescatado supera la línea base.</a:t>
            </a:r>
            <a:endParaRPr lang="es-MX" sz="950" dirty="0"/>
          </a:p>
          <a:p>
            <a:pPr marL="114300" indent="-114300">
              <a:spcAft>
                <a:spcPts val="100"/>
              </a:spcAft>
              <a:buFont typeface="Arial"/>
              <a:buChar char="•"/>
            </a:pPr>
            <a:r>
              <a:rPr lang="es-MX" sz="950" b="1" dirty="0">
                <a:solidFill>
                  <a:schemeClr val="tx1"/>
                </a:solidFill>
              </a:rPr>
              <a:t xml:space="preserve">Cliente: </a:t>
            </a:r>
            <a:r>
              <a:rPr lang="es-MX" sz="950" dirty="0">
                <a:solidFill>
                  <a:schemeClr val="tx1"/>
                </a:solidFill>
              </a:rPr>
              <a:t xml:space="preserve">visible &gt; sorpresa en venta y recompra (A/B).</a:t>
            </a:r>
            <a:endParaRPr lang="es-MX" sz="950" dirty="0"/>
          </a:p>
          <a:p>
            <a:pPr marL="114300" indent="-114300">
              <a:spcAft>
                <a:spcPts val="300"/>
              </a:spcAft>
              <a:buFont typeface="Arial"/>
              <a:buChar char="•"/>
            </a:pPr>
            <a:r>
              <a:rPr lang="es-MX" sz="950" b="1" dirty="0">
                <a:solidFill>
                  <a:schemeClr val="tx1"/>
                </a:solidFill>
              </a:rPr>
              <a:t xml:space="preserve">IA: </a:t>
            </a:r>
            <a:r>
              <a:rPr lang="es-MX" sz="950" dirty="0">
                <a:solidFill>
                  <a:schemeClr val="tx1"/>
                </a:solidFill>
              </a:rPr>
              <a:t xml:space="preserve">acierta ≥ 90% frente al conteo del dueño.</a:t>
            </a:r>
            <a:endParaRPr lang="es-MX" sz="950" dirty="0"/>
          </a:p>
          <a:p>
            <a:pPr indent="0" marL="0">
              <a:spcAft>
                <a:spcPts val="200"/>
              </a:spcAft>
              <a:buNone/>
            </a:pPr>
            <a:r>
              <a:rPr lang="es-MX" sz="950" b="1" dirty="0">
                <a:solidFill>
                  <a:srgbClr val="D9534F"/>
                </a:solidFill>
              </a:rPr>
              <a:t xml:space="preserve">Cambiamos si no, según qué falle:</a:t>
            </a:r>
            <a:endParaRPr lang="es-MX" sz="950" dirty="0"/>
          </a:p>
          <a:p>
            <a:pPr marL="114300" indent="-114300">
              <a:spcAft>
                <a:spcPts val="100"/>
              </a:spcAft>
              <a:buFont typeface="Arial"/>
              <a:buChar char="•"/>
            </a:pPr>
            <a:r>
              <a:rPr lang="es-MX" sz="950" b="1" dirty="0">
                <a:solidFill>
                  <a:schemeClr val="tx1"/>
                </a:solidFill>
              </a:rPr>
              <a:t xml:space="preserve">Sin fotos → </a:t>
            </a:r>
            <a:r>
              <a:rPr lang="es-MX" sz="950" dirty="0">
                <a:solidFill>
                  <a:schemeClr val="tx1"/>
                </a:solidFill>
              </a:rPr>
              <a:t xml:space="preserve">leemos el inventario de la caja (POS).</a:t>
            </a:r>
            <a:endParaRPr lang="es-MX" sz="950" dirty="0"/>
          </a:p>
          <a:p>
            <a:pPr marL="114300" indent="-114300">
              <a:spcAft>
                <a:spcPts val="100"/>
              </a:spcAft>
              <a:buFont typeface="Arial"/>
              <a:buChar char="•"/>
            </a:pPr>
            <a:r>
              <a:rPr lang="es-MX" sz="950" b="1" dirty="0">
                <a:solidFill>
                  <a:schemeClr val="tx1"/>
                </a:solidFill>
              </a:rPr>
              <a:t xml:space="preserve">Sin recompra → </a:t>
            </a:r>
            <a:r>
              <a:rPr lang="es-MX" sz="950" dirty="0">
                <a:solidFill>
                  <a:schemeClr val="tx1"/>
                </a:solidFill>
              </a:rPr>
              <a:t xml:space="preserve">el valor queda solo para el comercio.</a:t>
            </a:r>
            <a:endParaRPr lang="es-MX" sz="950" dirty="0"/>
          </a:p>
          <a:p>
            <a:pPr marL="114300" indent="-114300">
              <a:spcAft>
                <a:spcPts val="100"/>
              </a:spcAft>
              <a:buFont typeface="Arial"/>
              <a:buChar char="•"/>
            </a:pPr>
            <a:r>
              <a:rPr lang="es-MX" sz="950" b="1" dirty="0">
                <a:solidFill>
                  <a:schemeClr val="tx1"/>
                </a:solidFill>
              </a:rPr>
              <a:t xml:space="preserve">IA imprecisa → </a:t>
            </a:r>
            <a:r>
              <a:rPr lang="es-MX" sz="950" dirty="0">
                <a:solidFill>
                  <a:schemeClr val="tx1"/>
                </a:solidFill>
              </a:rPr>
              <a:t xml:space="preserve">el dueño elige de un menú.</a:t>
            </a:r>
            <a:endParaRPr lang="es-MX" sz="950" dirty="0"/>
          </a:p>
        </p:txBody>
      </p:sp>
      <p:sp>
        <p:nvSpPr>
          <p:cNvPr id="38" name="Tarjeta enlace"/>
          <p:cNvSpPr/>
          <p:nvPr/>
        </p:nvSpPr>
        <p:spPr>
          <a:xfrm>
            <a:off x="7498080" y="1856232"/>
            <a:ext cx="1280160" cy="2852928"/>
          </a:xfrm>
          <a:prstGeom prst="roundRect">
            <a:avLst>
              <a:gd name="adj" fmla="val 7143"/>
            </a:avLst>
          </a:prstGeom>
          <a:solidFill>
            <a:schemeClr val="tx1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7607808" y="194767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3  ENLACE</a:t>
            </a:r>
            <a:endParaRPr lang="en-US" sz="1100" dirty="0"/>
          </a:p>
        </p:txBody>
      </p:sp>
      <p:pic>
        <p:nvPicPr>
          <p:cNvPr id="40" name="QR prototipo" descr="q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528" y="2267712"/>
            <a:ext cx="969264" cy="96926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589520" y="33192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Acceso abierto</a:t>
            </a:r>
            <a:endParaRPr lang="en-US" sz="1000" dirty="0"/>
          </a:p>
        </p:txBody>
      </p:sp>
      <p:sp>
        <p:nvSpPr>
          <p:cNvPr id="42" name="Text 33">
            <a:hlinkClick r:id="rId8" tooltip=""/>
          </p:cNvPr>
          <p:cNvSpPr txBox="1"/>
          <p:nvPr/>
        </p:nvSpPr>
        <p:spPr>
          <a:xfrm>
            <a:off x="7571232" y="3575304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chemeClr val="accent2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negocios-digitales-</a:t>
            </a:r>
            <a:endParaRPr lang="en-US" sz="900" dirty="0"/>
          </a:p>
          <a:p>
            <a:pPr algn="ctr" indent="0" marL="0">
              <a:buNone/>
            </a:pPr>
            <a:r>
              <a:rPr lang="en-US" sz="900" u="sng" dirty="0">
                <a:solidFill>
                  <a:schemeClr val="accent2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egade-mvp.vercel.app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7589520" y="41422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CBB7"/>
                </a:solidFill>
              </a:rPr>
              <a:t>Vista del comercio y del cliente</a:t>
            </a:r>
            <a:endParaRPr lang="en-US" sz="900" dirty="0"/>
          </a:p>
        </p:txBody>
      </p:sp>
      <p:sp>
        <p:nvSpPr>
          <p:cNvPr id="44" name="Fuentes"/>
          <p:cNvSpPr txBox="1"/>
          <p:nvPr/>
        </p:nvSpPr>
        <p:spPr>
          <a:xfrm>
            <a:off x="365760" y="48006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63"/>
                </a:solidFill>
              </a:rPr>
              <a:t>Fuentes: Cheaf vía Publimetro (2024) y Posta Nuevo León (2025); Too Good To Go no opera en México. Merma 7–10%: Samray et al. (2019), citado en Logistics, MDPI (2023). Umbrales: criterios del equipo; 90% anclado a Food-101 (Qeios).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en Bocado">
  <a:themeElements>
    <a:clrScheme name="Buen Bocado">
      <a:dk1>
        <a:srgbClr val="1B2E27"/>
      </a:dk1>
      <a:lt1>
        <a:srgbClr val="FFFFFF"/>
      </a:lt1>
      <a:dk2>
        <a:srgbClr val="2E5E40"/>
      </a:dk2>
      <a:lt2>
        <a:srgbClr val="EEF5EE"/>
      </a:lt2>
      <a:accent1>
        <a:srgbClr val="F28C28"/>
      </a:accent1>
      <a:accent2>
        <a:srgbClr val="F2C14E"/>
      </a:accent2>
      <a:accent3>
        <a:srgbClr val="4E9A5B"/>
      </a:accent3>
      <a:accent4>
        <a:srgbClr val="7FB8A0"/>
      </a:accent4>
      <a:accent5>
        <a:srgbClr val="D9534F"/>
      </a:accent5>
      <a:accent6>
        <a:srgbClr val="5B6B63"/>
      </a:accent6>
      <a:hlink>
        <a:srgbClr val="F28C28"/>
      </a:hlink>
      <a:folHlink>
        <a:srgbClr val="F2C14E"/>
      </a:folHlink>
    </a:clrScheme>
    <a:fontScheme name="Buen Bocad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Buen Bocado – Entregable 2. Prototipo interactivo</dc:title>
  <dc:subject>PptxGenJS Presentation</dc:subject>
  <dc:creator>PptxGenJS</dc:creator>
  <cp:lastModifiedBy>PptxGenJS</cp:lastModifiedBy>
  <cp:revision>1</cp:revision>
  <dcterms:created xsi:type="dcterms:W3CDTF">2026-10-26T22:58:01Z</dcterms:created>
  <dcterms:modified xsi:type="dcterms:W3CDTF">2026-10-26T22:58:01Z</dcterms:modified>
</cp:coreProperties>
</file>