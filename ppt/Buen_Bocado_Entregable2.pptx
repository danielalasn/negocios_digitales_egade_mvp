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8f411e64-ea2a-c7d9-f7ca-4d606871a91e}">
          <p14:sldIdLst>
            <p14:sldId id="256"/>
          </p14:sldIdLst>
        </p14:section>
        <p14:section name="Entregable" id="{a68c23ab-425a-212e-340d-4c324e2f4bb9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negocios-digitales-egade-mvp.vercel.app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negocios-digitales-egade-mvp.vercel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curso"/>
          <p:cNvSpPr txBox="1"/>
          <p:nvPr/>
        </p:nvSpPr>
        <p:spPr>
          <a:xfrm>
            <a:off x="548640" y="914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NEGOCIOS DIGITALES · EGADE BUSINESS SCHOOL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 Bocado</a:t>
            </a:r>
            <a:endParaRPr lang="en-US" sz="4800" dirty="0"/>
          </a:p>
        </p:txBody>
      </p:sp>
      <p:sp>
        <p:nvSpPr>
          <p:cNvPr id="4" name="Lema"/>
          <p:cNvSpPr txBox="1"/>
          <p:nvPr/>
        </p:nvSpPr>
        <p:spPr>
          <a:xfrm>
            <a:off x="54864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2"/>
                </a:solidFill>
              </a:rPr>
              <a:t>Lo que sobra hoy, se vende hoy</a:t>
            </a:r>
            <a:endParaRPr lang="en-US" sz="2400" dirty="0"/>
          </a:p>
        </p:txBody>
      </p:sp>
      <p:sp>
        <p:nvSpPr>
          <p:cNvPr id="5" name="Entregable"/>
          <p:cNvSpPr txBox="1"/>
          <p:nvPr/>
        </p:nvSpPr>
        <p:spPr>
          <a:xfrm>
            <a:off x="548640" y="3017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BB7"/>
                </a:solidFill>
              </a:rPr>
              <a:t>Entregable 2 · Prototipo interactivo</a:t>
            </a:r>
            <a:endParaRPr lang="en-US" sz="1800" dirty="0"/>
          </a:p>
        </p:txBody>
      </p:sp>
      <p:sp>
        <p:nvSpPr>
          <p:cNvPr id="6" name="Equipo"/>
          <p:cNvSpPr txBox="1"/>
          <p:nvPr/>
        </p:nvSpPr>
        <p:spPr>
          <a:xfrm>
            <a:off x="548640" y="4206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BB7"/>
                </a:solidFill>
              </a:rPr>
              <a:t>Equipo Buen Bocado · Octubre 2026</a:t>
            </a:r>
            <a:endParaRPr lang="en-US" sz="1200" dirty="0"/>
          </a:p>
        </p:txBody>
      </p:sp>
      <p:sp>
        <p:nvSpPr>
          <p:cNvPr id="7" name="Tarjeta QR"/>
          <p:cNvSpPr/>
          <p:nvPr/>
        </p:nvSpPr>
        <p:spPr>
          <a:xfrm>
            <a:off x="6675120" y="914400"/>
            <a:ext cx="2011680" cy="329184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/>
        </p:spPr>
      </p:sp>
      <p:pic>
        <p:nvPicPr>
          <p:cNvPr id="8" name="QR prototipo" descr="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14300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7665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Prueba el prototipo</a:t>
            </a:r>
            <a:endParaRPr lang="en-US" sz="1300" dirty="0"/>
          </a:p>
        </p:txBody>
      </p:sp>
      <p:sp>
        <p:nvSpPr>
          <p:cNvPr id="10" name="Text 7">
            <a:hlinkClick r:id="rId2" tooltip=""/>
          </p:cNvPr>
          <p:cNvSpPr txBox="1"/>
          <p:nvPr/>
        </p:nvSpPr>
        <p:spPr>
          <a:xfrm>
            <a:off x="676656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negocios-digitales-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egade-mvp.vercel.app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foto al cierre: la IA hace el trabajo, el dueño decide</a:t>
            </a:r>
            <a:endParaRPr lang="en-US" sz="2400" dirty="0"/>
          </a:p>
        </p:txBody>
      </p:sp>
      <p:sp>
        <p:nvSpPr>
          <p:cNvPr id="3" name="Paso 1"/>
          <p:cNvSpPr/>
          <p:nvPr/>
        </p:nvSpPr>
        <p:spPr>
          <a:xfrm>
            <a:off x="365760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Dueño · aporta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Toma 1 foto de la vitrina</a:t>
            </a:r>
            <a:endParaRPr lang="en-US" sz="1000" dirty="0"/>
          </a:p>
        </p:txBody>
      </p:sp>
      <p:sp>
        <p:nvSpPr>
          <p:cNvPr id="7" name="Paso 2"/>
          <p:cNvSpPr/>
          <p:nvPr/>
        </p:nvSpPr>
        <p:spPr>
          <a:xfrm>
            <a:off x="1784909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49" y="8686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32381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IA · recibe la foto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876349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Reconoce productos y cantidades</a:t>
            </a:r>
            <a:endParaRPr lang="en-US" sz="1000" dirty="0"/>
          </a:p>
        </p:txBody>
      </p:sp>
      <p:sp>
        <p:nvSpPr>
          <p:cNvPr id="11" name="Paso 3"/>
          <p:cNvSpPr/>
          <p:nvPr/>
        </p:nvSpPr>
        <p:spPr>
          <a:xfrm>
            <a:off x="3204058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498" y="8686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51530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IA · produce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3295498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Redacta el paquete y precio con piso</a:t>
            </a:r>
            <a:endParaRPr lang="en-US" sz="1000" dirty="0"/>
          </a:p>
        </p:txBody>
      </p:sp>
      <p:sp>
        <p:nvSpPr>
          <p:cNvPr id="15" name="Paso 4"/>
          <p:cNvSpPr/>
          <p:nvPr/>
        </p:nvSpPr>
        <p:spPr>
          <a:xfrm>
            <a:off x="4623206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8686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70678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Dueño · decide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4714646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Revisa y aprueba o edita</a:t>
            </a:r>
            <a:endParaRPr lang="en-US" sz="1000" dirty="0"/>
          </a:p>
        </p:txBody>
      </p:sp>
      <p:sp>
        <p:nvSpPr>
          <p:cNvPr id="19" name="Paso 5"/>
          <p:cNvSpPr/>
          <p:nvPr/>
        </p:nvSpPr>
        <p:spPr>
          <a:xfrm>
            <a:off x="6042355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795" y="86868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89827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IA · produce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6133795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Avisa solo a quien le sirve</a:t>
            </a:r>
            <a:endParaRPr lang="en-US" sz="1000" dirty="0"/>
          </a:p>
        </p:txBody>
      </p:sp>
      <p:sp>
        <p:nvSpPr>
          <p:cNvPr id="23" name="Paso 6"/>
          <p:cNvSpPr/>
          <p:nvPr/>
        </p:nvSpPr>
        <p:spPr>
          <a:xfrm>
            <a:off x="7461504" y="777240"/>
            <a:ext cx="1316736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86868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808976" y="850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Cliente · decide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7552944" y="110642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Ve el paquete real, paga y recoge</a:t>
            </a:r>
            <a:endParaRPr lang="en-US" sz="1000" dirty="0"/>
          </a:p>
        </p:txBody>
      </p:sp>
      <p:sp>
        <p:nvSpPr>
          <p:cNvPr id="27" name="Delega y decide"/>
          <p:cNvSpPr txBox="1"/>
          <p:nvPr/>
        </p:nvSpPr>
        <p:spPr>
          <a:xfrm>
            <a:off x="365760" y="15361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0"/>
                </a:solidFill>
              </a:rPr>
              <a:t>Delega a la IA: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contar, describir, poner precio y avisar. </a:t>
            </a:r>
            <a:pPr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Decide la persona: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qué se publica, a qué precio final y cuánto producir mañana (la IA solo lo predice).</a:t>
            </a:r>
            <a:endParaRPr lang="en-US" sz="1000" dirty="0"/>
          </a:p>
        </p:txBody>
      </p:sp>
      <p:sp>
        <p:nvSpPr>
          <p:cNvPr id="28" name="Tarjeta problema y valor"/>
          <p:cNvSpPr/>
          <p:nvPr/>
        </p:nvSpPr>
        <p:spPr>
          <a:xfrm>
            <a:off x="365760" y="1856232"/>
            <a:ext cx="3611880" cy="2852928"/>
          </a:xfrm>
          <a:prstGeom prst="roundRect">
            <a:avLst>
              <a:gd name="adj" fmla="val 3205"/>
            </a:avLst>
          </a:prstGeom>
          <a:solidFill>
            <a:schemeClr val="bg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502920" y="1947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1  PROBLEMA Y VALOR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02920" y="2221992"/>
            <a:ext cx="3383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5E40"/>
                </a:solidFill>
              </a:rPr>
              <a:t>Mantenemos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el usuario (panadería, cafetería o cocina económica de barrio en MTY) y el problema: al cierre, lo que no se vendió ya no sirve mañana.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5E40"/>
                </a:solidFill>
              </a:rPr>
              <a:t>Cambiamos el competidor de referencia: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Cheaf, que nació en México y está en Nuevo León, en vez de Too Good To Go, que no opera aquí. Cheaf también vende paquetes sorpresa a 1/3–1/2 del precio.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5E40"/>
                </a:solidFill>
              </a:rPr>
              <a:t>Quitamos la línea base de 1%: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no tenía fuente propia. La medimos con los comercios (paso 1).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02920" y="3758184"/>
            <a:ext cx="1627632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2212848" y="3758184"/>
            <a:ext cx="1627632" cy="859536"/>
          </a:xfrm>
          <a:prstGeom prst="roundRect">
            <a:avLst>
              <a:gd name="adj" fmla="val 6383"/>
            </a:avLst>
          </a:prstGeom>
          <a:solidFill>
            <a:schemeClr val="tx2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576072" y="3813048"/>
            <a:ext cx="1481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534F"/>
                </a:solidFill>
              </a:rPr>
              <a:t>Hoy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 tira, lo regala o lo remata. O publica una bolsa sorpresa en Cheaf.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2286000" y="3813048"/>
            <a:ext cx="1481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2C14E"/>
                </a:solidFill>
              </a:rPr>
              <a:t>Con Buen Bocado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Una foto y aprobar. El cliente ve qué compra.</a:t>
            </a:r>
            <a:endParaRPr lang="en-US" sz="950" dirty="0"/>
          </a:p>
        </p:txBody>
      </p:sp>
      <p:sp>
        <p:nvSpPr>
          <p:cNvPr id="35" name="Tarjeta experimento"/>
          <p:cNvSpPr/>
          <p:nvPr/>
        </p:nvSpPr>
        <p:spPr>
          <a:xfrm>
            <a:off x="4114800" y="1856232"/>
            <a:ext cx="3246120" cy="2852928"/>
          </a:xfrm>
          <a:prstGeom prst="roundRect">
            <a:avLst>
              <a:gd name="adj" fmla="val 3205"/>
            </a:avLst>
          </a:prstGeom>
          <a:solidFill>
            <a:schemeClr val="bg2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251960" y="19476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2  EXPERIMENTO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4251960" y="2221992"/>
            <a:ext cx="29718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5E40"/>
                </a:solidFill>
              </a:rPr>
              <a:t>Paso 1 · 1 semana, sin programar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8–10 comercios nos mandan por WhatsApp una foto al cierre y qué hicieron con lo que sobró. Da la línea base real.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5E40"/>
                </a:solidFill>
              </a:rPr>
              <a:t>Paso 2 · piloto de 3–4 semanas en el MVP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Métrica: excedente rescatado (kg vendidos ÷ kg aptos al cierre) vs. paso 1.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E9A5B"/>
                </a:solidFill>
              </a:rPr>
              <a:t>Seguimos si: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la mitad de los comercios sube foto la mitad de los días; el paquete visible vende y se recompra más que la sorpresa (A/B); la IA acierta ≥ 89%.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9534F"/>
                </a:solidFill>
              </a:rPr>
              <a:t>Cambiamos si no: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conectar a la caja (POS); el valor queda solo para el comercio; el dueño elige de un menú.</a:t>
            </a:r>
            <a:endParaRPr lang="en-US" sz="1000" dirty="0"/>
          </a:p>
        </p:txBody>
      </p:sp>
      <p:sp>
        <p:nvSpPr>
          <p:cNvPr id="38" name="Tarjeta enlace"/>
          <p:cNvSpPr/>
          <p:nvPr/>
        </p:nvSpPr>
        <p:spPr>
          <a:xfrm>
            <a:off x="7498080" y="1856232"/>
            <a:ext cx="1280160" cy="2852928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7607808" y="194767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3  ENLACE</a:t>
            </a:r>
            <a:endParaRPr lang="en-US" sz="1100" dirty="0"/>
          </a:p>
        </p:txBody>
      </p:sp>
      <p:pic>
        <p:nvPicPr>
          <p:cNvPr id="40" name="QR prototipo" descr="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2267712"/>
            <a:ext cx="969264" cy="96926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589520" y="3319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Acceso abierto</a:t>
            </a:r>
            <a:endParaRPr lang="en-US" sz="1000" dirty="0"/>
          </a:p>
        </p:txBody>
      </p:sp>
      <p:sp>
        <p:nvSpPr>
          <p:cNvPr id="42" name="Text 33">
            <a:hlinkClick r:id="rId8" tooltip=""/>
          </p:cNvPr>
          <p:cNvSpPr txBox="1"/>
          <p:nvPr/>
        </p:nvSpPr>
        <p:spPr>
          <a:xfrm>
            <a:off x="7571232" y="3575304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chemeClr val="accent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negocios-digitales-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u="sng" dirty="0">
                <a:solidFill>
                  <a:schemeClr val="accent2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egade-mvp.vercel.app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758952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BB7"/>
                </a:solidFill>
              </a:rPr>
              <a:t>Vista del comercio y del cliente</a:t>
            </a:r>
            <a:endParaRPr lang="en-US" sz="900" dirty="0"/>
          </a:p>
        </p:txBody>
      </p:sp>
      <p:sp>
        <p:nvSpPr>
          <p:cNvPr id="44" name="Fuentes"/>
          <p:cNvSpPr txBox="1"/>
          <p:nvPr/>
        </p:nvSpPr>
        <p:spPr>
          <a:xfrm>
            <a:off x="365760" y="48006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63"/>
                </a:solidFill>
              </a:rPr>
              <a:t>Fuentes: Cheaf vía Publimetro (2024) y Posta Nuevo León (2025). Umbrales: criterios del equipo; 89% anclado a Food-101 (Qeios).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en Bocado">
  <a:themeElements>
    <a:clrScheme name="Buen Bocado">
      <a:dk1>
        <a:srgbClr val="1B2E27"/>
      </a:dk1>
      <a:lt1>
        <a:srgbClr val="FFFFFF"/>
      </a:lt1>
      <a:dk2>
        <a:srgbClr val="2E5E40"/>
      </a:dk2>
      <a:lt2>
        <a:srgbClr val="EEF5EE"/>
      </a:lt2>
      <a:accent1>
        <a:srgbClr val="F28C28"/>
      </a:accent1>
      <a:accent2>
        <a:srgbClr val="F2C14E"/>
      </a:accent2>
      <a:accent3>
        <a:srgbClr val="4E9A5B"/>
      </a:accent3>
      <a:accent4>
        <a:srgbClr val="7FB8A0"/>
      </a:accent4>
      <a:accent5>
        <a:srgbClr val="D9534F"/>
      </a:accent5>
      <a:accent6>
        <a:srgbClr val="5B6B63"/>
      </a:accent6>
      <a:hlink>
        <a:srgbClr val="F28C28"/>
      </a:hlink>
      <a:folHlink>
        <a:srgbClr val="F2C14E"/>
      </a:folHlink>
    </a:clrScheme>
    <a:fontScheme name="Buen Bocad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Buen Bocado – Entregable 2. Prototipo interactivo</dc:title>
  <dc:subject>PptxGenJS Presentation</dc:subject>
  <dc:creator>PptxGenJS</dc:creator>
  <cp:lastModifiedBy>PptxGenJS</cp:lastModifiedBy>
  <cp:revision>1</cp:revision>
  <dcterms:created xsi:type="dcterms:W3CDTF">2026-10-26T22:58:01Z</dcterms:created>
  <dcterms:modified xsi:type="dcterms:W3CDTF">2026-10-26T22:58:01Z</dcterms:modified>
</cp:coreProperties>
</file>