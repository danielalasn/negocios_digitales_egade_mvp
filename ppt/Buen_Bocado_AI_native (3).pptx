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" id="{AE7CBB45-AD40-1AA5-5215-937C7FD1AF64}">
          <p14:sldIdLst>
            <p14:sldId id="256"/>
          </p14:sldIdLst>
        </p14:section>
        <p14:section name="Evidencia" id="{3CD6037A-B50A-5D45-9937-14D47F900702}">
          <p14:sldIdLst>
            <p14:sldId id="257"/>
          </p14:sldIdLst>
        </p14:section>
        <p14:section name="Oportunidad" id="{864BF892-6D8A-8CAD-8BC0-503AD550B96D}">
          <p14:sldIdLst>
            <p14:sldId id="258"/>
          </p14:sldIdLst>
        </p14:section>
        <p14:section name="Propuesta de valor" id="{0E2C7FAC-8E1D-A62F-6F87-20B21D54855F}">
          <p14:sldIdLst>
            <p14:sldId id="259"/>
          </p14:sldIdLst>
        </p14:section>
        <p14:section name="Canvas" id="{671DCD46-4A81-4572-A201-E92F79E2C8A4}">
          <p14:sldIdLst>
            <p14:sldId id="260"/>
          </p14:sldIdLst>
        </p14:section>
        <p14:section name="Hipótesis" id="{CCF47710-FA6A-F34B-EE2C-78E2880DC45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E25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B2E25"/>
                </a:solidFill>
                <a:latin typeface="+mn-lt"/>
              </a:rPr>
              <a:t>¿Dónde ocurre el desperdicio?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Desperdicio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FB7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9C-5E4A-B318-045F2140495E}"/>
              </c:ext>
            </c:extLst>
          </c:dPt>
          <c:dPt>
            <c:idx val="1"/>
            <c:bubble3D val="0"/>
            <c:spPr>
              <a:solidFill>
                <a:srgbClr val="F28C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9C-5E4A-B318-045F2140495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9C-5E4A-B318-045F2140495E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9C-5E4A-B318-045F2140495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Hogares</c:v>
                </c:pt>
                <c:pt idx="1">
                  <c:v>Comercios, restaurantes, hoteles y súper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9C-5E4A-B318-045F214049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E2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MXN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AB-6F48-A3E9-5628A26CBE3B}"/>
              </c:ext>
            </c:extLst>
          </c:dPt>
          <c:dPt>
            <c:idx val="1"/>
            <c:invertIfNegative val="0"/>
            <c:bubble3D val="0"/>
            <c:spPr>
              <a:solidFill>
                <a:srgbClr val="7FB7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AB-6F48-A3E9-5628A26CBE3B}"/>
              </c:ext>
            </c:extLst>
          </c:dPt>
          <c:dLbls>
            <c:numFmt formatCode="\$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minuto de trabajo</c:v>
                </c:pt>
                <c:pt idx="1">
                  <c:v>1 foto con 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0.66</c:v>
                </c:pt>
                <c:pt idx="1">
                  <c:v>2.4E-2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AB-6F48-A3E9-5628A26CBE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621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Usuario principal: dueño de un comercio pequeño de comida en Monterrey que cada noche tira producto en buen estado porque no tiene tiempo ni herramientas para venderlo antes de cerrar. CANIRAC: 98% de los restaurantes son pequeños o medianos y 48% son familiares. En Nuevo León hay 19,997 unidades económicas de hoteles y restaurantes (INEGI, Censos 2019). Hoy lo tira, lo regala o lo remata en mostrador. Usuario secundario: consumidores que buscan ahorrar en comida; la comida, bebidas y tabaco se llevan 37.7% del gasto de los hogares (ENIGH 2022). El perfil exacto (edad, ocupación) se define con la encuesta en Monterrey.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cuantitativa: 20.4 M t al año (FAO) o ~30 M t (Red BAMX); costo de más de 400 mil millones de pesos; 39% del desperdicio ocurre fuera de los hogares (PNUMA); más de 200 mil t al año en NL; ~160 mil personas en pobreza alimentaria en NL. KPI: tasa de excedente rescatado, que mide qué parte de la comida que hoy se tiraría se convierte en venta. Línea base 0%: no encontramos una app de rescate operando en Monterrey, así que hoy nada del excedente de un comercio pequeño se vende por app. Excedente estimado 13%: WRAP encontró que en restaurantes del Reino Unido se tira 18% de la comida comprada y 13% era evitable; es un mercado análogo y en Monterrey puede variar. Hallazgo: los socios destacados de la principal app global de rescate son grandes cadenas, mientras que en México 98% de los restaurantes son pymes y 48% familiares.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Capacidades: visión multimodal para inventario y publicación automática; predicción de excedente con el historial de fotos; precio dinámico con piso; notificaciones personalizadas en la app. Restricción que elimina: el costo de esfuerzo del comercio, que hoy obliga a armar, fotografiar y publicar a mano, y la incertidumbre del consumidor con la bolsa sorpresa. Por qué ahora: el costo de visión por foto es de una décima de centavo de dólar y el reconocimiento de comida ya alcanza 89–90% en benchmarks. Por qué es difícil de copiar: el modelo de Too Good To Go cobra por bolsa sorpresa por categoría, así que no necesita ni acumula datos de qué producto sobra en cada comercio.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 de trabajo a salario mínimo 2026 cuesta $0.66 MXN (315.04 pesos por jornada de 8 horas). Procesar una foto de 1000×1000 px con Claude Haiku 4.5 cuesta ~US$0.0013, unos $0.024 MXN al tipo de cambio de 18.28. Cada minuto de trabajo manual que la IA reemplaza cuesta ~28 veces más que la foto. El tiempo que hoy toma armar y publicar un paquete no está publicado; se mide en el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Datos: se obtienen de la foto que el comercio toma cerca del cierre, de cada compra en la app y de los gustos y restricciones que indica el consumidor. Activos: el historial de excedente por producto y comercio mejora la predicción con cada día; los perfiles de gusto mejoran las notificaciones; la densidad por colonia crea efecto de red local. Captura de valor: comisión por paquete, con referencia en lo que ya pagan los restaurantes a apps de delivery (DiDi 22%, Rappi 20–25%, Uber Eats 25–30%) y en la principal app global de rescate en Reino Unido (25%); después, suscripción por la predicción de producción. Escala: el costo marginal de un comercio más es casi solo inferencia (~US$0.0013 por foto), sin personal por publicación. Círculo virtuoso: más comercios publican, hay más fotos y ventas, la IA reconoce y predice mejor, hay menos merma y ofertas más acertadas, llegan más consumidores, y eso atrae más comercios. Cada vuelta deja historial que un competidor nuevo no tiene.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por riesgo: H1 y H2 invalidan la oportunidad si fallan, porque sin la foto diaria no hay oferta ni datos, y sin preferencia por el paquete visible no hay diferencia frente a la competencia. H3 es la base técnica. H4 y H5 son riesgos de mercado con evidencia de referencia (la principal app global de rescate cerró 4 de 10 países por crecer demasiado rápido; UCLA estimó que sin control de precios la oferta caería 58–83%). H6 tiene referencias de lo que ya pagan los restaurantes. H7 y H8 son valor e ingreso futuros. H9 ya está verificado con precios públicos. MVP: https://negocios-digitales-egade-mvp.vercel.app/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6400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negocios-digitales-egade-mvp.vercel.ap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negocios-digitales-egade-mvp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AI-NATIVE OPPORTUNITY · MONTERREY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Buen Bocado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chemeClr val="accent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sobra hoy, se vende hoy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Rescate de comida con IA para los comercios pequeños de Monterrey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776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20.4 M t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46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 comida se desperdician cada año en México, 34% de la producción (FAO)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86600" y="548640"/>
            <a:ext cx="4572000" cy="562356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60920" y="731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problema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360920" y="1417320"/>
            <a:ext cx="548640" cy="548640"/>
          </a:xfrm>
          <a:prstGeom prst="ellipse">
            <a:avLst/>
          </a:prstGeom>
          <a:solidFill>
            <a:srgbClr val="4C9A5B"/>
          </a:solidFill>
          <a:ln w="12700">
            <a:solidFill>
              <a:srgbClr val="4C9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554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92440" y="134416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Quién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El dueño de una panadería, cafetería o cocina económica de barrio. 98% de los restaurantes en México son pymes.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60920" y="2560320"/>
            <a:ext cx="548640" cy="548640"/>
          </a:xfrm>
          <a:prstGeom prst="ellipse">
            <a:avLst/>
          </a:prstGeom>
          <a:solidFill>
            <a:srgbClr val="4C9A5B"/>
          </a:solidFill>
          <a:ln w="12700">
            <a:solidFill>
              <a:srgbClr val="4C9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697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92440" y="248716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Cuándo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Al cierre: lo que no se vendió ya no sirve mañana. Peor cuando la demanda del día es difícil de anticipar.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360920" y="3703320"/>
            <a:ext cx="548640" cy="548640"/>
          </a:xfrm>
          <a:prstGeom prst="ellipse">
            <a:avLst/>
          </a:prstGeom>
          <a:solidFill>
            <a:srgbClr val="4C9A5B"/>
          </a:solidFill>
          <a:ln w="12700">
            <a:solidFill>
              <a:srgbClr val="4C9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38404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092440" y="363016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Cómo lo resuelve hoy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 tira, lo regala a empleados y vecinos o lo remata en mostrador a quien pase.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360920" y="4846320"/>
            <a:ext cx="548640" cy="548640"/>
          </a:xfrm>
          <a:prstGeom prst="ellipse">
            <a:avLst/>
          </a:prstGeom>
          <a:solidFill>
            <a:srgbClr val="4C9A5B"/>
          </a:solidFill>
          <a:ln w="12700">
            <a:solidFill>
              <a:srgbClr val="4C9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49834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92440" y="477316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Usuario secundario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Quien busca ahorrar en comida: 57% de los mexicanos ya compra marcas más baratas (Kantar 2025).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5669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14E"/>
                </a:solidFill>
              </a:rPr>
              <a:t>MVP: </a:t>
            </a:r>
            <a:r>
              <a:rPr lang="en-US" sz="1400" u="sng" dirty="0">
                <a:solidFill>
                  <a:srgbClr val="F28C2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negocios-digitales-egade-mvp.vercel.app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Fuentes: FAO vía Vanguardia; CANIRAC vía Mexico News Daily; Kantar vía Emprendedor.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problema enorme y un segmento desatendido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11480" y="1143000"/>
          <a:ext cx="3200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0"/>
          <p:cNvSpPr/>
          <p:nvPr/>
        </p:nvSpPr>
        <p:spPr>
          <a:xfrm>
            <a:off x="3794760" y="118872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3977640" y="12435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+200 mil 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al año en Nuevo León (Congreso de NL)</a:t>
            </a:r>
            <a:endParaRPr lang="en-US" sz="1100" dirty="0"/>
          </a:p>
        </p:txBody>
      </p:sp>
      <p:sp>
        <p:nvSpPr>
          <p:cNvPr id="7" name="stat1"/>
          <p:cNvSpPr/>
          <p:nvPr/>
        </p:nvSpPr>
        <p:spPr>
          <a:xfrm>
            <a:off x="3794760" y="2212848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977640" y="22677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+400 mil mdp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2715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cuesta al año en México (FAO)</a:t>
            </a:r>
            <a:endParaRPr lang="en-US" sz="1100" dirty="0"/>
          </a:p>
        </p:txBody>
      </p:sp>
      <p:sp>
        <p:nvSpPr>
          <p:cNvPr id="10" name="stat2"/>
          <p:cNvSpPr/>
          <p:nvPr/>
        </p:nvSpPr>
        <p:spPr>
          <a:xfrm>
            <a:off x="3794760" y="3236976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97764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~160 mil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37398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personas en pobreza alimentaria en Nuevo León (El Financiero)</a:t>
            </a:r>
            <a:endParaRPr lang="en-US" sz="1100" dirty="0"/>
          </a:p>
        </p:txBody>
      </p:sp>
      <p:sp>
        <p:nvSpPr>
          <p:cNvPr id="13" name="metric"/>
          <p:cNvSpPr/>
          <p:nvPr/>
        </p:nvSpPr>
        <p:spPr>
          <a:xfrm>
            <a:off x="7543800" y="1188720"/>
            <a:ext cx="411480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26680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MÉTRICA PRINCIPAL (KPI)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15544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Tasa de excedente rescatado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kg vendidos por la app ÷ kg de excedente apto al cierre. Mide qué parte de la comida que hoy se tiraría se convierte en venta.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26680" y="2560320"/>
            <a:ext cx="3749040" cy="0"/>
          </a:xfrm>
          <a:prstGeom prst="line">
            <a:avLst/>
          </a:prstGeom>
          <a:noFill/>
          <a:ln w="9525">
            <a:solidFill>
              <a:srgbClr val="7FB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726680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1%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309067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7FB7A4"/>
                </a:solidFill>
              </a:rPr>
              <a:t>LÍNEA BASE</a:t>
            </a:r>
            <a:endParaRPr lang="en-US" sz="1200" dirty="0"/>
          </a:p>
          <a:p>
            <a:r>
              <a:rPr lang="en-US" sz="1000" dirty="0">
                <a:solidFill>
                  <a:srgbClr val="FFFFFF"/>
                </a:solidFill>
              </a:rPr>
              <a:t>1 </a:t>
            </a:r>
            <a:r>
              <a:rPr lang="en-US" sz="1000" dirty="0" err="1">
                <a:solidFill>
                  <a:srgbClr val="FFFFFF"/>
                </a:solidFill>
              </a:rPr>
              <a:t>competidor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err="1">
                <a:solidFill>
                  <a:srgbClr val="FFFFFF"/>
                </a:solidFill>
              </a:rPr>
              <a:t>en</a:t>
            </a:r>
            <a:r>
              <a:rPr lang="en-US" sz="1000" dirty="0">
                <a:solidFill>
                  <a:srgbClr val="FFFFFF"/>
                </a:solidFill>
              </a:rPr>
              <a:t> el mercado Mexicano: </a:t>
            </a:r>
          </a:p>
          <a:p>
            <a:r>
              <a:rPr lang="en-US" sz="1000" dirty="0" err="1">
                <a:solidFill>
                  <a:srgbClr val="FFFFFF"/>
                </a:solidFill>
              </a:rPr>
              <a:t>Cheaf</a:t>
            </a:r>
            <a:r>
              <a:rPr lang="en-US" sz="1000" dirty="0">
                <a:solidFill>
                  <a:srgbClr val="FFFFFF"/>
                </a:solidFill>
              </a:rPr>
              <a:t>: </a:t>
            </a:r>
            <a:r>
              <a:rPr lang="en-MX" sz="1000" dirty="0">
                <a:solidFill>
                  <a:schemeClr val="bg1"/>
                </a:solidFill>
              </a:rPr>
              <a:t>vende comida que todavía se puede consumir</a:t>
            </a:r>
          </a:p>
          <a:p>
            <a:endParaRPr lang="en-MX" sz="1200" dirty="0"/>
          </a:p>
          <a:p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13%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646920" y="309067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7FB7A4"/>
                </a:solidFill>
              </a:rPr>
              <a:t>EXCEDENTE ESTIMADO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De lo que compra un restaurante se tira siendo evitable (WRAP, Reino Unido). Es un mercado análogo; en Monterrey puede variar.</a:t>
            </a:r>
            <a:endParaRPr lang="en-US" sz="1200" dirty="0"/>
          </a:p>
        </p:txBody>
      </p:sp>
      <p:sp>
        <p:nvSpPr>
          <p:cNvPr id="21" name="band0"/>
          <p:cNvSpPr/>
          <p:nvPr/>
        </p:nvSpPr>
        <p:spPr>
          <a:xfrm>
            <a:off x="548640" y="4389120"/>
            <a:ext cx="361188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13232" y="45262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 QUE MUESTRA LA EVIDENCIA CUALITATIVA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Usuarios de la principal app </a:t>
            </a:r>
            <a:r>
              <a:rPr lang="en-US" sz="1200" dirty="0" err="1">
                <a:solidFill>
                  <a:schemeClr val="tx1"/>
                </a:solidFill>
              </a:rPr>
              <a:t>internacional</a:t>
            </a:r>
            <a:r>
              <a:rPr lang="en-US" sz="1200" dirty="0">
                <a:solidFill>
                  <a:schemeClr val="tx1"/>
                </a:solidFill>
              </a:rPr>
              <a:t> de rescate de comida se quejan de porciones pobres y oferta repetida (Menorca.info). Una panadería en Oregon cuenta que clientes de esa app volvieron a comprar a precio completo (CNBC).</a:t>
            </a:r>
            <a:endParaRPr lang="en-US" sz="1200" dirty="0"/>
          </a:p>
        </p:txBody>
      </p:sp>
      <p:sp>
        <p:nvSpPr>
          <p:cNvPr id="23" name="band1"/>
          <p:cNvSpPr/>
          <p:nvPr/>
        </p:nvSpPr>
        <p:spPr>
          <a:xfrm>
            <a:off x="4297680" y="4389120"/>
            <a:ext cx="361188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462272" y="45262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 QUE SUPONEMOS (POR MEDIR)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Cuánto tira un comercio pequeño en Monterrey, por qué no vende su excedente en línea y si el consumidor compra más cuando ve el contenido del paquete.</a:t>
            </a:r>
            <a:endParaRPr lang="en-US" sz="1200" dirty="0"/>
          </a:p>
        </p:txBody>
      </p:sp>
      <p:sp>
        <p:nvSpPr>
          <p:cNvPr id="25" name="band2"/>
          <p:cNvSpPr/>
          <p:nvPr/>
        </p:nvSpPr>
        <p:spPr>
          <a:xfrm>
            <a:off x="8046720" y="4389120"/>
            <a:ext cx="3611880" cy="1783080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211312" y="45262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HALLAZGO: EL SEGMENTO DESATENDIDO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Los socios destacados de la principal app global de rescate son cadenas (7-Eleven, Circle K, Krispy Kreme, IKEA; Axios), pero 98% de los restaurantes en México son pymes (CANIRAC). El trabajo manual deja fuera al comercio de barrio.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Fuentes: PNUMA vía The Food Tech; Congreso de NL; FAO vía Vanguardia; El Financiero; WRAP; Menorca.info; CNBC vía NBC; Axios; CANIRAC vía Mexico News Daily.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Una foto reemplaza el trabajo manual del comercio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188720"/>
            <a:ext cx="822960" cy="822960"/>
          </a:xfrm>
          <a:prstGeom prst="ellipse">
            <a:avLst/>
          </a:prstGeom>
          <a:solidFill>
            <a:srgbClr val="4C9A5B"/>
          </a:solidFill>
          <a:ln w="12700">
            <a:solidFill>
              <a:srgbClr val="4C9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3944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Foto de la vitrina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El comercio toma una sola foto cerca del cierre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58568" y="1463040"/>
            <a:ext cx="5029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474720" y="1188720"/>
            <a:ext cx="822960" cy="822960"/>
          </a:xfrm>
          <a:prstGeom prst="ellipse">
            <a:avLst/>
          </a:prstGeom>
          <a:solidFill>
            <a:srgbClr val="2E5E3F"/>
          </a:solidFill>
          <a:ln w="12700">
            <a:solidFill>
              <a:srgbClr val="2E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3944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718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La IA identifica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9718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Reconoce productos, cantidades y precio original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44568" y="1463040"/>
            <a:ext cx="5029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60720" y="118872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13944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78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Publica con precio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2578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Descripción y precio dinámico con piso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30568" y="1463040"/>
            <a:ext cx="5029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046720" y="1188720"/>
            <a:ext cx="822960" cy="822960"/>
          </a:xfrm>
          <a:prstGeom prst="ellipse">
            <a:avLst/>
          </a:prstGeom>
          <a:solidFill>
            <a:srgbClr val="4C9A5B"/>
          </a:solidFill>
          <a:ln w="12700">
            <a:solidFill>
              <a:srgbClr val="4C9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2460" y="139446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438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Notificación en la app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75438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Avisa solo a quien le sirve ese paquete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116568" y="1463040"/>
            <a:ext cx="5029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10332720" y="1188720"/>
            <a:ext cx="822960" cy="822960"/>
          </a:xfrm>
          <a:prstGeom prst="ellipse">
            <a:avLst/>
          </a:prstGeom>
          <a:solidFill>
            <a:srgbClr val="2E5E3F"/>
          </a:solidFill>
          <a:ln w="12700">
            <a:solidFill>
              <a:srgbClr val="2E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8460" y="139446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8298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Predice mañana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98298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Cada foto mejora el pronóstico de excedente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846320" cy="25603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Trabajo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Antes: lo hacía una persona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Ahora: lo hace la IA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E25"/>
                          </a:solidFill>
                        </a:rPr>
                        <a:t>Inventariar lo que sobró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25"/>
                          </a:solidFill>
                        </a:rPr>
                        <a:t>Empleado cuenta y anota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25"/>
                          </a:solidFill>
                        </a:rPr>
                        <a:t>Conteo desde la foto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E25"/>
                          </a:solidFill>
                        </a:rPr>
                        <a:t>Armar y describir el paquete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25"/>
                          </a:solidFill>
                        </a:rPr>
                        <a:t>Dueño, a mano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25"/>
                          </a:solidFill>
                        </a:rPr>
                        <a:t>Publicación generada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E25"/>
                          </a:solidFill>
                        </a:rPr>
                        <a:t>Poner precio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25"/>
                          </a:solidFill>
                        </a:rPr>
                        <a:t>Regla fija o intuición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25"/>
                          </a:solidFill>
                        </a:rPr>
                        <a:t>Precio dinámico con piso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E25"/>
                          </a:solidFill>
                        </a:rPr>
                        <a:t>Planear producción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25"/>
                          </a:solidFill>
                        </a:rPr>
                        <a:t>"Al ojo"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25"/>
                          </a:solidFill>
                        </a:rPr>
                        <a:t>Predicción diaria</a:t>
                      </a:r>
                      <a:endParaRPr lang="en-US" sz="1200" dirty="0"/>
                    </a:p>
                  </a:txBody>
                  <a:tcPr marL="45720" marR="45720" anchor="ctr">
                    <a:lnL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vs"/>
          <p:cNvSpPr/>
          <p:nvPr/>
        </p:nvSpPr>
        <p:spPr>
          <a:xfrm>
            <a:off x="5623560" y="3291840"/>
            <a:ext cx="292608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 txBox="1"/>
          <p:nvPr/>
        </p:nvSpPr>
        <p:spPr>
          <a:xfrm>
            <a:off x="5788152" y="3429000"/>
            <a:ext cx="2606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5E3F"/>
                </a:solidFill>
              </a:rPr>
              <a:t>VS. LA MEJOR SOLUCIÓN DIGITAL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Too Good To Go: </a:t>
            </a:r>
            <a:r>
              <a:rPr lang="en-US" sz="1200" dirty="0">
                <a:solidFill>
                  <a:schemeClr val="tx1"/>
                </a:solidFill>
              </a:rPr>
              <a:t>bolsa sorpresa por categoría, armada a mano por el comercio, con tarifa fija de US$1.79 por bolsa (Axios). Opera en 19 países; no hallamos evidencia en México.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</a:rPr>
              <a:t>Sin IA seríamos otro Too Good To Go.</a:t>
            </a:r>
            <a:endParaRPr lang="en-US" sz="1200" dirty="0"/>
          </a:p>
        </p:txBody>
      </p:sp>
      <p:sp>
        <p:nvSpPr>
          <p:cNvPr id="30" name="why"/>
          <p:cNvSpPr/>
          <p:nvPr/>
        </p:nvSpPr>
        <p:spPr>
          <a:xfrm>
            <a:off x="8732520" y="3291840"/>
            <a:ext cx="2926080" cy="2697480"/>
          </a:xfrm>
          <a:prstGeom prst="roundRect">
            <a:avLst>
              <a:gd name="adj" fmla="val 339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8887968" y="3429000"/>
            <a:ext cx="2651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POR QUÉ AHORA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Procesar mil fotos cuesta ~US$1.30 (Claude Haiku 4.5) y modelos publicados reconocen comida con 89–90% de precisión (Food-101).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POR QUÉ ES DIFÍCIL DE COPIAR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El modelo de bolsa sorpresa no necesita saber qué producto sobra; nuestro historial por producto y comercio crece con cada foto.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Fuentes: Axios; Too Good To Go; Claude Docs (visión); Qeios (Food-101). Precio con piso: sin control de precios, la oferta caería 58–83% (UCLA Anderson).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antes no era posible a este costo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703320" cy="484632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6642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comercio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tx1"/>
                </a:solidFill>
              </a:rPr>
              <a:t>“Le tomo una foto a mi vitrina antes de cerrar y en segundos ya está a la venta. Desde la tarde sé cuánto me va a sobrar y cuánto producir mañana. Recupero dinero sin dedicarle más tiempo.”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434840" y="1234440"/>
            <a:ext cx="3703320" cy="484632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6642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consumidor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25603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tx1"/>
                </a:solidFill>
              </a:rPr>
              <a:t>“Me llega una notificación de la app solo cuando hay algo cerca que sí me gusta y puedo comer, con foto real, a mitad de precio o menos. Ya no compro sorpresas que terminan en mi basura.”</a:t>
            </a:r>
            <a:endParaRPr lang="en-US" sz="2000" dirty="0"/>
          </a:p>
        </p:txBody>
      </p:sp>
      <p:sp>
        <p:nvSpPr>
          <p:cNvPr id="13" name="cost"/>
          <p:cNvSpPr/>
          <p:nvPr/>
        </p:nvSpPr>
        <p:spPr>
          <a:xfrm>
            <a:off x="8321040" y="1234440"/>
            <a:ext cx="3337560" cy="4846320"/>
          </a:xfrm>
          <a:prstGeom prst="roundRect">
            <a:avLst>
              <a:gd name="adj" fmla="val 27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85039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EL CAMBIO DE COSTO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8412480" y="1691640"/>
          <a:ext cx="31546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8503920" y="3977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C14E"/>
                </a:solidFill>
              </a:rPr>
              <a:t>~28 veces más barato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que un solo minuto de trabajo a salario mínimo. Si armar y publicar un paquete toma 4 minutos o más, la diferencia supera 100 veces; el tiempo real se mide en el piloto.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Cálculo: salario mínimo 2026 $315.04/día ÷ 8 h (Uno TV); US$1.30 por mil fotos (Claude Docs) × $18.28 por dólar (Excélsior, 12-oct-2026).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AI-Native Business Canvas</a:t>
            </a:r>
            <a:endParaRPr lang="en-US" sz="3000" dirty="0"/>
          </a:p>
        </p:txBody>
      </p:sp>
      <p:sp>
        <p:nvSpPr>
          <p:cNvPr id="3" name="blk0"/>
          <p:cNvSpPr/>
          <p:nvPr/>
        </p:nvSpPr>
        <p:spPr>
          <a:xfrm>
            <a:off x="457200" y="114300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Usuario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Cliente principal: comercios pequeños de comida en MTY (panaderías, cafeterías, cocinas económicas). Cliente secundario: consumidores que buscan ahorrar en comida.</a:t>
            </a:r>
            <a:endParaRPr lang="en-US" sz="1200" dirty="0"/>
          </a:p>
        </p:txBody>
      </p:sp>
      <p:sp>
        <p:nvSpPr>
          <p:cNvPr id="5" name="blk1"/>
          <p:cNvSpPr/>
          <p:nvPr/>
        </p:nvSpPr>
        <p:spPr>
          <a:xfrm>
            <a:off x="3035808" y="114300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127248" y="118872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Problema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Más de 200 mil toneladas de comida se desperdician al año en Nuevo León (Congreso de NL).</a:t>
            </a:r>
            <a:endParaRPr lang="en-US" sz="1200" dirty="0"/>
          </a:p>
        </p:txBody>
      </p:sp>
      <p:sp>
        <p:nvSpPr>
          <p:cNvPr id="7" name="blk2"/>
          <p:cNvSpPr/>
          <p:nvPr/>
        </p:nvSpPr>
        <p:spPr>
          <a:xfrm>
            <a:off x="5614416" y="114300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705856" y="118872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Propuesta de valor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Comercio: ingreso marginal por lo que antes era merma (hoy $0), con una foto, y producir menos mañana. Consumidor: comida visible a la mitad de precio o menos.</a:t>
            </a:r>
            <a:endParaRPr lang="en-US" sz="1200" dirty="0"/>
          </a:p>
        </p:txBody>
      </p:sp>
      <p:sp>
        <p:nvSpPr>
          <p:cNvPr id="9" name="blk3"/>
          <p:cNvSpPr/>
          <p:nvPr/>
        </p:nvSpPr>
        <p:spPr>
          <a:xfrm>
            <a:off x="457200" y="214884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19456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Capacidad de IA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Visión para inventario y publicación, predicción de excedente, precio con piso, notificaciones personalizadas.</a:t>
            </a:r>
            <a:endParaRPr lang="en-US" sz="1200" dirty="0"/>
          </a:p>
        </p:txBody>
      </p:sp>
      <p:sp>
        <p:nvSpPr>
          <p:cNvPr id="11" name="blk4"/>
          <p:cNvSpPr/>
          <p:nvPr/>
        </p:nvSpPr>
        <p:spPr>
          <a:xfrm>
            <a:off x="3035808" y="214884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127248" y="219456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Datos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Salen de la foto diaria cerca del cierre, de cada compra y de los gustos que indica el consumidor.</a:t>
            </a:r>
            <a:endParaRPr lang="en-US" sz="1200" dirty="0"/>
          </a:p>
        </p:txBody>
      </p:sp>
      <p:sp>
        <p:nvSpPr>
          <p:cNvPr id="13" name="blk5"/>
          <p:cNvSpPr/>
          <p:nvPr/>
        </p:nvSpPr>
        <p:spPr>
          <a:xfrm>
            <a:off x="5614416" y="214884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705856" y="219456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Activos acumulables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Historial de excedente por producto y comercio; perfiles de gusto; densidad de comercios por colonia.</a:t>
            </a:r>
            <a:endParaRPr lang="en-US" sz="1200" dirty="0"/>
          </a:p>
        </p:txBody>
      </p:sp>
      <p:sp>
        <p:nvSpPr>
          <p:cNvPr id="15" name="blk6"/>
          <p:cNvSpPr/>
          <p:nvPr/>
        </p:nvSpPr>
        <p:spPr>
          <a:xfrm>
            <a:off x="457200" y="315468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320040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Captura de valor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Comisión por paquete vendido (referencia: 22–30% en apps de delivery en MX) + suscripción de predicción.</a:t>
            </a:r>
            <a:endParaRPr lang="en-US" sz="1200" dirty="0"/>
          </a:p>
        </p:txBody>
      </p:sp>
      <p:sp>
        <p:nvSpPr>
          <p:cNvPr id="17" name="blk7"/>
          <p:cNvSpPr/>
          <p:nvPr/>
        </p:nvSpPr>
        <p:spPr>
          <a:xfrm>
            <a:off x="3035808" y="315468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127248" y="320040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Escala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Sumar un comercio no exige más personal: la IA publica cada foto por ~US$0.0013. Los costos crecen con las fotos, no con empleados.</a:t>
            </a:r>
            <a:endParaRPr lang="en-US" sz="1200" dirty="0"/>
          </a:p>
        </p:txBody>
      </p:sp>
      <p:sp>
        <p:nvSpPr>
          <p:cNvPr id="19" name="blk8"/>
          <p:cNvSpPr/>
          <p:nvPr/>
        </p:nvSpPr>
        <p:spPr>
          <a:xfrm>
            <a:off x="5614416" y="315468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705856" y="320040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Canales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Para llegar: venta directa por colonia y CANIRAC NL. Para operar: app del comercio (foto y publicación) y del consumidor (notificaciones y pago).</a:t>
            </a:r>
            <a:endParaRPr lang="en-US" sz="1200" dirty="0"/>
          </a:p>
        </p:txBody>
      </p:sp>
      <p:sp>
        <p:nvSpPr>
          <p:cNvPr id="21" name="blk9"/>
          <p:cNvSpPr/>
          <p:nvPr/>
        </p:nvSpPr>
        <p:spPr>
          <a:xfrm>
            <a:off x="457200" y="416052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48640" y="420624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Relación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Autoservicio asistido por IA; reporte semanal al comercio con lo recuperado.</a:t>
            </a:r>
            <a:endParaRPr lang="en-US" sz="1200" dirty="0"/>
          </a:p>
        </p:txBody>
      </p:sp>
      <p:sp>
        <p:nvSpPr>
          <p:cNvPr id="23" name="blk10"/>
          <p:cNvSpPr/>
          <p:nvPr/>
        </p:nvSpPr>
        <p:spPr>
          <a:xfrm>
            <a:off x="3035808" y="416052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127248" y="420624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Actividades clave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Afiliar comercios por colonia; calibrar los modelos; cuidar la inocuidad.</a:t>
            </a:r>
            <a:endParaRPr lang="en-US" sz="1200" dirty="0"/>
          </a:p>
        </p:txBody>
      </p:sp>
      <p:sp>
        <p:nvSpPr>
          <p:cNvPr id="25" name="blk11"/>
          <p:cNvSpPr/>
          <p:nvPr/>
        </p:nvSpPr>
        <p:spPr>
          <a:xfrm>
            <a:off x="5614416" y="416052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705856" y="420624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Recursos clave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Modelos de visión y predicción; base de datos de excedentes; equipo de campo.</a:t>
            </a:r>
            <a:endParaRPr lang="en-US" sz="1200" dirty="0"/>
          </a:p>
        </p:txBody>
      </p:sp>
      <p:sp>
        <p:nvSpPr>
          <p:cNvPr id="27" name="blk12"/>
          <p:cNvSpPr/>
          <p:nvPr/>
        </p:nvSpPr>
        <p:spPr>
          <a:xfrm>
            <a:off x="457200" y="516636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48640" y="521208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Socios clave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Proveedores de IA, sistemas de punto de venta (POS), restaurantes y comercios aliados, Mercado Pago, CANIRAC NL, Banco de Alimentos.</a:t>
            </a:r>
            <a:endParaRPr lang="en-US" sz="1200" dirty="0"/>
          </a:p>
        </p:txBody>
      </p:sp>
      <p:sp>
        <p:nvSpPr>
          <p:cNvPr id="29" name="blk13"/>
          <p:cNvSpPr/>
          <p:nvPr/>
        </p:nvSpPr>
        <p:spPr>
          <a:xfrm>
            <a:off x="3035808" y="516636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3127248" y="521208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Costos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Por venta: comisión de pago (3.49% + $4 + IVA) e IA (~US$0.0013 por foto). Fijos: desarrollo y operación de la app. Crecimiento: equipo de venta en campo.</a:t>
            </a:r>
            <a:endParaRPr lang="en-US" sz="1200" dirty="0"/>
          </a:p>
        </p:txBody>
      </p:sp>
      <p:sp>
        <p:nvSpPr>
          <p:cNvPr id="31" name="blk14"/>
          <p:cNvSpPr/>
          <p:nvPr/>
        </p:nvSpPr>
        <p:spPr>
          <a:xfrm>
            <a:off x="5614416" y="5166360"/>
            <a:ext cx="2505456" cy="950976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705856" y="5212080"/>
            <a:ext cx="23408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5E3F"/>
                </a:solidFill>
              </a:rPr>
              <a:t>Métricas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B2E25"/>
                </a:solidFill>
              </a:rPr>
              <a:t>Tasa de excedente rescatado, comercios activos por semana, retención de consumidores.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Círculo virtuoso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423651" y="2488363"/>
            <a:ext cx="487002" cy="391738"/>
          </a:xfrm>
          <a:prstGeom prst="line">
            <a:avLst/>
          </a:prstGeom>
          <a:noFill/>
          <a:ln w="28575">
            <a:solidFill>
              <a:srgbClr val="E457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H="1">
            <a:off x="10950373" y="3649288"/>
            <a:ext cx="186018" cy="633845"/>
          </a:xfrm>
          <a:prstGeom prst="line">
            <a:avLst/>
          </a:prstGeom>
          <a:noFill/>
          <a:ln w="28575">
            <a:solidFill>
              <a:srgbClr val="E457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H="1">
            <a:off x="9757416" y="4758516"/>
            <a:ext cx="601967" cy="9144"/>
          </a:xfrm>
          <a:prstGeom prst="line">
            <a:avLst/>
          </a:prstGeom>
          <a:noFill/>
          <a:ln w="28575">
            <a:solidFill>
              <a:srgbClr val="E457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H="1" flipV="1">
            <a:off x="8980409" y="3649288"/>
            <a:ext cx="186018" cy="633845"/>
          </a:xfrm>
          <a:prstGeom prst="line">
            <a:avLst/>
          </a:prstGeom>
          <a:noFill/>
          <a:ln w="28575">
            <a:solidFill>
              <a:srgbClr val="E457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V="1">
            <a:off x="9206147" y="2488363"/>
            <a:ext cx="487002" cy="391738"/>
          </a:xfrm>
          <a:prstGeom prst="line">
            <a:avLst/>
          </a:prstGeom>
          <a:noFill/>
          <a:ln w="28575">
            <a:solidFill>
              <a:srgbClr val="E457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fw0"/>
          <p:cNvSpPr/>
          <p:nvPr/>
        </p:nvSpPr>
        <p:spPr>
          <a:xfrm>
            <a:off x="9464040" y="1837944"/>
            <a:ext cx="11887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9518904" y="1837944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Más comercios publican</a:t>
            </a:r>
            <a:endParaRPr lang="en-US" sz="1000" dirty="0"/>
          </a:p>
        </p:txBody>
      </p:sp>
      <p:sp>
        <p:nvSpPr>
          <p:cNvPr id="41" name="fw1"/>
          <p:cNvSpPr/>
          <p:nvPr/>
        </p:nvSpPr>
        <p:spPr>
          <a:xfrm>
            <a:off x="10681545" y="2817288"/>
            <a:ext cx="11887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736409" y="2817288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Más fotos y ventas = más datos</a:t>
            </a:r>
            <a:endParaRPr lang="en-US" sz="1000" dirty="0"/>
          </a:p>
        </p:txBody>
      </p:sp>
      <p:sp>
        <p:nvSpPr>
          <p:cNvPr id="43" name="fw2"/>
          <p:cNvSpPr/>
          <p:nvPr/>
        </p:nvSpPr>
        <p:spPr>
          <a:xfrm>
            <a:off x="10216499" y="4401900"/>
            <a:ext cx="1188720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271363" y="44019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La IA reconoce y predice mejor</a:t>
            </a:r>
            <a:endParaRPr lang="en-US" sz="1000" dirty="0"/>
          </a:p>
        </p:txBody>
      </p:sp>
      <p:sp>
        <p:nvSpPr>
          <p:cNvPr id="45" name="fw3"/>
          <p:cNvSpPr/>
          <p:nvPr/>
        </p:nvSpPr>
        <p:spPr>
          <a:xfrm>
            <a:off x="8711581" y="4401900"/>
            <a:ext cx="11887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8766445" y="440190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Menos merma y ofertas más acertadas</a:t>
            </a:r>
            <a:endParaRPr lang="en-US" sz="1000" dirty="0"/>
          </a:p>
        </p:txBody>
      </p:sp>
      <p:sp>
        <p:nvSpPr>
          <p:cNvPr id="47" name="fw4"/>
          <p:cNvSpPr/>
          <p:nvPr/>
        </p:nvSpPr>
        <p:spPr>
          <a:xfrm>
            <a:off x="8246535" y="2817288"/>
            <a:ext cx="118872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8301399" y="2817288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Más consumidores compran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418320" y="32918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accent6"/>
                </a:solidFill>
              </a:rPr>
              <a:t>Cada vuelta suma historial que un competidor nuevo no tiene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1996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Naranja = bloques donde la idea se vuelve negocio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Fuentes: Congreso de NL; InformaBTL (comisiones de apps en México); Shopify (Mercado Pago); Claude Docs (costo por foto).</a:t>
            </a:r>
            <a:endParaRPr lang="en-US" sz="10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tiene que ser cierto, de más a menos riesgoso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74320" cy="4343400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28600" y="11887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más riesgo</a:t>
            </a:r>
            <a:endParaRPr lang="en-US" sz="900" dirty="0"/>
          </a:p>
        </p:txBody>
      </p:sp>
      <p:sp>
        <p:nvSpPr>
          <p:cNvPr id="5" name="hyp0"/>
          <p:cNvSpPr/>
          <p:nvPr/>
        </p:nvSpPr>
        <p:spPr>
          <a:xfrm>
            <a:off x="960120" y="1188720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78992" y="122529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H1  El comercio toma la foto diaria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Por qué aquí: Sin foto no hay oferta ni datos</a:t>
            </a:r>
            <a:endParaRPr lang="en-US" sz="1200" dirty="0"/>
          </a:p>
        </p:txBody>
      </p:sp>
      <p:sp>
        <p:nvSpPr>
          <p:cNvPr id="7" name="kill0"/>
          <p:cNvSpPr/>
          <p:nvPr/>
        </p:nvSpPr>
        <p:spPr>
          <a:xfrm>
            <a:off x="4709160" y="1289304"/>
            <a:ext cx="822960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09160" y="1289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3"/>
                </a:solidFill>
              </a:rPr>
              <a:t>INVALIDA</a:t>
            </a:r>
            <a:endParaRPr lang="en-US" sz="900" dirty="0"/>
          </a:p>
        </p:txBody>
      </p:sp>
      <p:sp>
        <p:nvSpPr>
          <p:cNvPr id="9" name="hyp1"/>
          <p:cNvSpPr/>
          <p:nvPr/>
        </p:nvSpPr>
        <p:spPr>
          <a:xfrm>
            <a:off x="960120" y="1700784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78992" y="173736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H2  Paquete visible vende más que sorpresa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Por qué aquí: Es nuestra diferencia frente a la competencia</a:t>
            </a:r>
            <a:endParaRPr lang="en-US" sz="1200" dirty="0"/>
          </a:p>
        </p:txBody>
      </p:sp>
      <p:sp>
        <p:nvSpPr>
          <p:cNvPr id="11" name="kill1"/>
          <p:cNvSpPr/>
          <p:nvPr/>
        </p:nvSpPr>
        <p:spPr>
          <a:xfrm>
            <a:off x="4709160" y="1801368"/>
            <a:ext cx="822960" cy="256032"/>
          </a:xfrm>
          <a:prstGeom prst="roundRect">
            <a:avLst>
              <a:gd name="adj" fmla="val 3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09160" y="1801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3"/>
                </a:solidFill>
              </a:rPr>
              <a:t>INVALIDA</a:t>
            </a:r>
            <a:endParaRPr lang="en-US" sz="900" dirty="0"/>
          </a:p>
        </p:txBody>
      </p:sp>
      <p:sp>
        <p:nvSpPr>
          <p:cNvPr id="13" name="hyp2"/>
          <p:cNvSpPr/>
          <p:nvPr/>
        </p:nvSpPr>
        <p:spPr>
          <a:xfrm>
            <a:off x="960120" y="2212848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2E5E3F"/>
          </a:solidFill>
          <a:ln w="12700">
            <a:solidFill>
              <a:srgbClr val="2E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78992" y="22494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H3  La IA reconoce comida de vitrina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Por qué aquí: Si falla, publicar vuelve a ser manual</a:t>
            </a:r>
            <a:endParaRPr lang="en-US" sz="1200" dirty="0"/>
          </a:p>
        </p:txBody>
      </p:sp>
      <p:sp>
        <p:nvSpPr>
          <p:cNvPr id="15" name="hyp3"/>
          <p:cNvSpPr/>
          <p:nvPr/>
        </p:nvSpPr>
        <p:spPr>
          <a:xfrm>
            <a:off x="960120" y="2724912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7FB7A4"/>
          </a:solidFill>
          <a:ln w="12700">
            <a:solidFill>
              <a:srgbClr val="7FB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78992" y="276148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E25"/>
                </a:solidFill>
              </a:rPr>
              <a:t>H4  Hay densidad por colonia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1B2E25"/>
                </a:solidFill>
              </a:rPr>
              <a:t>Por qué aquí: La principal app global de rescate cerró 4 de 10 países</a:t>
            </a:r>
            <a:endParaRPr lang="en-US" sz="1200" dirty="0"/>
          </a:p>
        </p:txBody>
      </p:sp>
      <p:sp>
        <p:nvSpPr>
          <p:cNvPr id="17" name="hyp4"/>
          <p:cNvSpPr/>
          <p:nvPr/>
        </p:nvSpPr>
        <p:spPr>
          <a:xfrm>
            <a:off x="960120" y="3236976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7FB7A4"/>
          </a:solidFill>
          <a:ln w="12700">
            <a:solidFill>
              <a:srgbClr val="7FB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78992" y="32735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E25"/>
                </a:solidFill>
              </a:rPr>
              <a:t>H5  Precio con piso no reduce la oferta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1B2E25"/>
                </a:solidFill>
              </a:rPr>
              <a:t>Por qué aquí: Mal precio: −58 a −83% de oferta (UCLA)</a:t>
            </a:r>
            <a:endParaRPr lang="en-US" sz="1200" dirty="0"/>
          </a:p>
        </p:txBody>
      </p:sp>
      <p:sp>
        <p:nvSpPr>
          <p:cNvPr id="19" name="hyp5"/>
          <p:cNvSpPr/>
          <p:nvPr/>
        </p:nvSpPr>
        <p:spPr>
          <a:xfrm>
            <a:off x="960120" y="3749040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7FB7A4"/>
          </a:solidFill>
          <a:ln w="12700">
            <a:solidFill>
              <a:srgbClr val="7FB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78992" y="378561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E25"/>
                </a:solidFill>
              </a:rPr>
              <a:t>H6  Comercios aceptan la comisión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1B2E25"/>
                </a:solidFill>
              </a:rPr>
              <a:t>Por qué aquí: Ya pagan 22–30% a apps de delivery</a:t>
            </a:r>
            <a:endParaRPr lang="en-US" sz="1200" dirty="0"/>
          </a:p>
        </p:txBody>
      </p:sp>
      <p:sp>
        <p:nvSpPr>
          <p:cNvPr id="21" name="hyp6"/>
          <p:cNvSpPr/>
          <p:nvPr/>
        </p:nvSpPr>
        <p:spPr>
          <a:xfrm>
            <a:off x="960120" y="4261104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2E5E3F"/>
          </a:solidFill>
          <a:ln w="12700">
            <a:solidFill>
              <a:srgbClr val="2E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78992" y="42976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H7  La predicción supera al dueño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Por qué aquí: Valor extra; no se necesita para arrancar</a:t>
            </a:r>
            <a:endParaRPr lang="en-US" sz="1200" dirty="0"/>
          </a:p>
        </p:txBody>
      </p:sp>
      <p:sp>
        <p:nvSpPr>
          <p:cNvPr id="23" name="hyp7"/>
          <p:cNvSpPr/>
          <p:nvPr/>
        </p:nvSpPr>
        <p:spPr>
          <a:xfrm>
            <a:off x="960120" y="4773168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7FB7A4"/>
          </a:solidFill>
          <a:ln w="12700">
            <a:solidFill>
              <a:srgbClr val="7FB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78992" y="480974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E25"/>
                </a:solidFill>
              </a:rPr>
              <a:t>H8  Pagan suscripción de predicción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1B2E25"/>
                </a:solidFill>
              </a:rPr>
              <a:t>Por qué aquí: Ingreso futuro, no para arrancar</a:t>
            </a:r>
            <a:endParaRPr lang="en-US" sz="1200" dirty="0"/>
          </a:p>
        </p:txBody>
      </p:sp>
      <p:sp>
        <p:nvSpPr>
          <p:cNvPr id="25" name="hyp8"/>
          <p:cNvSpPr/>
          <p:nvPr/>
        </p:nvSpPr>
        <p:spPr>
          <a:xfrm>
            <a:off x="960120" y="5285232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7FB7A4"/>
          </a:solidFill>
          <a:ln w="12700">
            <a:solidFill>
              <a:srgbClr val="7FB7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78992" y="532180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E25"/>
                </a:solidFill>
              </a:rPr>
              <a:t>H9  El costo de IA es despreciable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1B2E25"/>
                </a:solidFill>
              </a:rPr>
              <a:t>Por qué aquí: Ya verificado con precios públicos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583387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C28"/>
                </a:solidFill>
              </a:rPr>
              <a:t>■ </a:t>
            </a:r>
            <a:r>
              <a:rPr lang="en-US" sz="1000" dirty="0">
                <a:solidFill>
                  <a:schemeClr val="tx1"/>
                </a:solidFill>
              </a:rPr>
              <a:t>Valor   </a:t>
            </a:r>
            <a:r>
              <a:rPr lang="en-US" sz="1000" dirty="0">
                <a:solidFill>
                  <a:srgbClr val="2E5E3F"/>
                </a:solidFill>
              </a:rPr>
              <a:t>■ </a:t>
            </a:r>
            <a:r>
              <a:rPr lang="en-US" sz="1000" dirty="0">
                <a:solidFill>
                  <a:schemeClr val="tx1"/>
                </a:solidFill>
              </a:rPr>
              <a:t>Desempeño IA   </a:t>
            </a:r>
            <a:r>
              <a:rPr lang="en-US" sz="1000" dirty="0">
                <a:solidFill>
                  <a:srgbClr val="7FB7A4"/>
                </a:solidFill>
              </a:rPr>
              <a:t>■ </a:t>
            </a:r>
            <a:r>
              <a:rPr lang="en-US" sz="1000" dirty="0">
                <a:solidFill>
                  <a:schemeClr val="tx1"/>
                </a:solidFill>
              </a:rPr>
              <a:t>Viabilidad económica</a:t>
            </a:r>
            <a:endParaRPr lang="en-US" sz="1000" dirty="0"/>
          </a:p>
        </p:txBody>
      </p:sp>
      <p:sp>
        <p:nvSpPr>
          <p:cNvPr id="28" name="exp0"/>
          <p:cNvSpPr/>
          <p:nvPr/>
        </p:nvSpPr>
        <p:spPr>
          <a:xfrm>
            <a:off x="5897880" y="1188720"/>
            <a:ext cx="57607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35040" y="132588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770" y="1451610"/>
            <a:ext cx="251460" cy="25146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6035040" y="1874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H1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128016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5E3F"/>
                </a:solidFill>
              </a:rPr>
              <a:t>Comportamiento: </a:t>
            </a:r>
            <a:r>
              <a:rPr lang="en-US" sz="1200" dirty="0">
                <a:solidFill>
                  <a:schemeClr val="tx1"/>
                </a:solidFill>
              </a:rPr>
              <a:t>El comercio sube la foto sin recordatorio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E3F"/>
                </a:solidFill>
              </a:rPr>
              <a:t>Métrica: </a:t>
            </a:r>
            <a:r>
              <a:rPr lang="en-US" sz="1200" dirty="0">
                <a:solidFill>
                  <a:schemeClr val="tx1"/>
                </a:solidFill>
              </a:rPr>
              <a:t>% de días abiertos con foto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C9A5B"/>
                </a:solidFill>
              </a:rPr>
              <a:t>Se sostiene si: </a:t>
            </a:r>
            <a:r>
              <a:rPr lang="en-US" sz="1200" dirty="0">
                <a:solidFill>
                  <a:schemeClr val="tx1"/>
                </a:solidFill>
              </a:rPr>
              <a:t>≥ la mitad de los comercios suben foto ≥ la mitad de los días (semana 3)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</a:rPr>
              <a:t>Se descarta si: </a:t>
            </a:r>
            <a:r>
              <a:rPr lang="en-US" sz="1200" dirty="0">
                <a:solidFill>
                  <a:schemeClr val="tx1"/>
                </a:solidFill>
              </a:rPr>
              <a:t>no se alcanza → probar integración con la caja (POS)</a:t>
            </a:r>
            <a:endParaRPr lang="en-US" sz="1200" dirty="0"/>
          </a:p>
        </p:txBody>
      </p:sp>
      <p:sp>
        <p:nvSpPr>
          <p:cNvPr id="33" name="exp1"/>
          <p:cNvSpPr/>
          <p:nvPr/>
        </p:nvSpPr>
        <p:spPr>
          <a:xfrm>
            <a:off x="5897880" y="2651760"/>
            <a:ext cx="57607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035040" y="278892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770" y="2914650"/>
            <a:ext cx="251460" cy="25146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035040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H2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6675120" y="27432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5E3F"/>
                </a:solidFill>
              </a:rPr>
              <a:t>Comportamiento: </a:t>
            </a:r>
            <a:r>
              <a:rPr lang="en-US" sz="1200" dirty="0">
                <a:solidFill>
                  <a:schemeClr val="tx1"/>
                </a:solidFill>
              </a:rPr>
              <a:t>Compra y recompra (A: sorpresa; B: visible y personalizado)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E3F"/>
                </a:solidFill>
              </a:rPr>
              <a:t>Métrica: </a:t>
            </a:r>
            <a:r>
              <a:rPr lang="en-US" sz="1200" dirty="0">
                <a:solidFill>
                  <a:schemeClr val="tx1"/>
                </a:solidFill>
              </a:rPr>
              <a:t>Conversión de notificación a compra; recompra a 14 días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C9A5B"/>
                </a:solidFill>
              </a:rPr>
              <a:t>Se sostiene si: </a:t>
            </a:r>
            <a:r>
              <a:rPr lang="en-US" sz="1200" dirty="0">
                <a:solidFill>
                  <a:schemeClr val="tx1"/>
                </a:solidFill>
              </a:rPr>
              <a:t>B supera a A con p &lt; 0.05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</a:rPr>
              <a:t>Se descarta si: </a:t>
            </a:r>
            <a:r>
              <a:rPr lang="en-US" sz="1200" dirty="0">
                <a:solidFill>
                  <a:schemeClr val="tx1"/>
                </a:solidFill>
              </a:rPr>
              <a:t>no hay diferencia → el valor queda solo del lado del comercio</a:t>
            </a:r>
            <a:endParaRPr lang="en-US" sz="1200" dirty="0"/>
          </a:p>
        </p:txBody>
      </p:sp>
      <p:sp>
        <p:nvSpPr>
          <p:cNvPr id="38" name="exp2"/>
          <p:cNvSpPr/>
          <p:nvPr/>
        </p:nvSpPr>
        <p:spPr>
          <a:xfrm>
            <a:off x="5897880" y="4114800"/>
            <a:ext cx="57607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035040" y="425196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770" y="4377690"/>
            <a:ext cx="251460" cy="25146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035040" y="4800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H3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6675120" y="42062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5E3F"/>
                </a:solidFill>
              </a:rPr>
              <a:t>Comportamiento: </a:t>
            </a:r>
            <a:r>
              <a:rPr lang="en-US" sz="1200" dirty="0">
                <a:solidFill>
                  <a:schemeClr val="tx1"/>
                </a:solidFill>
              </a:rPr>
              <a:t>El comercio aprueba la publicación sin editar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5E3F"/>
                </a:solidFill>
              </a:rPr>
              <a:t>Métrica: </a:t>
            </a:r>
            <a:r>
              <a:rPr lang="en-US" sz="1200" dirty="0">
                <a:solidFill>
                  <a:schemeClr val="tx1"/>
                </a:solidFill>
              </a:rPr>
              <a:t>Precisión por producto vs. etiquetado manual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C9A5B"/>
                </a:solidFill>
              </a:rPr>
              <a:t>Se sostiene si: </a:t>
            </a:r>
            <a:r>
              <a:rPr lang="en-US" sz="1200" dirty="0">
                <a:solidFill>
                  <a:schemeClr val="tx1"/>
                </a:solidFill>
              </a:rPr>
              <a:t>≥ 89%, nivel de Food-101 (Qeios)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</a:rPr>
              <a:t>Se descarta si: </a:t>
            </a:r>
            <a:r>
              <a:rPr lang="en-US" sz="1200" dirty="0">
                <a:solidFill>
                  <a:schemeClr val="tx1"/>
                </a:solidFill>
              </a:rPr>
              <a:t>&lt; 89% → el comercio elige productos de un menú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5897880" y="5623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5E3F"/>
                </a:solidFill>
              </a:rPr>
              <a:t>Validación eficiente: </a:t>
            </a:r>
            <a:r>
              <a:rPr lang="en-US" sz="1100" dirty="0">
                <a:solidFill>
                  <a:schemeClr val="tx1"/>
                </a:solidFill>
              </a:rPr>
              <a:t>un solo piloto de 3–4 semanas con 10 comercios prueba H1, H2, H3 y H5 a la vez sobre el MVP: </a:t>
            </a:r>
            <a:r>
              <a:rPr lang="en-US" sz="1100" b="1" u="sng" dirty="0">
                <a:solidFill>
                  <a:srgbClr val="F28C2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negocios-digitales-egade-mvp.vercel.app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Umbrales: criterios de decisión del equipo; H3 anclado a Food-101 (Qeios); H4: CNBC vía NBC; H5: UCLA Anderson; H6: InformaBTL.</a:t>
            </a:r>
            <a:endParaRPr lang="en-US" sz="10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en Bocado">
  <a:themeElements>
    <a:clrScheme name="Buen Bocado">
      <a:dk1>
        <a:srgbClr val="1B2E25"/>
      </a:dk1>
      <a:lt1>
        <a:srgbClr val="FFFFFF"/>
      </a:lt1>
      <a:dk2>
        <a:srgbClr val="2E5E3F"/>
      </a:dk2>
      <a:lt2>
        <a:srgbClr val="EEF5EF"/>
      </a:lt2>
      <a:accent1>
        <a:srgbClr val="F28C28"/>
      </a:accent1>
      <a:accent2>
        <a:srgbClr val="4C9A5B"/>
      </a:accent2>
      <a:accent3>
        <a:srgbClr val="E4572E"/>
      </a:accent3>
      <a:accent4>
        <a:srgbClr val="F2C14E"/>
      </a:accent4>
      <a:accent5>
        <a:srgbClr val="7FB7A4"/>
      </a:accent5>
      <a:accent6>
        <a:srgbClr val="6B7A72"/>
      </a:accent6>
      <a:hlink>
        <a:srgbClr val="2E5E3F"/>
      </a:hlink>
      <a:folHlink>
        <a:srgbClr val="4C9A5B"/>
      </a:folHlink>
    </a:clrScheme>
    <a:fontScheme name="Buen Bocado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2631</Words>
  <Application>Microsoft Macintosh PowerPoint</Application>
  <PresentationFormat>Widescreen</PresentationFormat>
  <Paragraphs>187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Calibri</vt:lpstr>
      <vt:lpstr>Buen Bocado</vt:lpstr>
      <vt:lpstr>Buen Bocado</vt:lpstr>
      <vt:lpstr>Un problema enorme y un segmento desatendido</vt:lpstr>
      <vt:lpstr>Una foto reemplaza el trabajo manual del comercio</vt:lpstr>
      <vt:lpstr>Lo que antes no era posible a este costo</vt:lpstr>
      <vt:lpstr>AI-Native Business Canvas</vt:lpstr>
      <vt:lpstr>Lo que tiene que ser cierto, de más a menos riesgoso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Buen Bocado: rescate de comida con IA en Monterrey</dc:title>
  <dc:subject>PptxGenJS Presentation</dc:subject>
  <dc:creator>PptxGenJS</dc:creator>
  <cp:lastModifiedBy>Daniela Vargas  Díaz</cp:lastModifiedBy>
  <cp:revision>3</cp:revision>
  <dcterms:created xsi:type="dcterms:W3CDTF">2026-10-14T23:12:32Z</dcterms:created>
  <dcterms:modified xsi:type="dcterms:W3CDTF">2026-10-15T01:36:48Z</dcterms:modified>
</cp:coreProperties>
</file>